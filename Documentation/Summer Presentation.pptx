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video/mp4" Extension="mp4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Red Hat Display Bold" charset="1" panose="02010803040201060303"/>
      <p:regular r:id="rId17"/>
    </p:embeddedFont>
    <p:embeddedFont>
      <p:font typeface="Inter" charset="1" panose="020B0502030000000004"/>
      <p:regular r:id="rId18"/>
    </p:embeddedFont>
    <p:embeddedFont>
      <p:font typeface="Inter Medium" charset="1" panose="02000503000000020004"/>
      <p:regular r:id="rId19"/>
    </p:embeddedFont>
    <p:embeddedFont>
      <p:font typeface="Inter Bold" charset="1" panose="020B0802030000000004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png" Type="http://schemas.openxmlformats.org/officeDocument/2006/relationships/image"/><Relationship Id="rId4" Target="../media/image13.png" Type="http://schemas.openxmlformats.org/officeDocument/2006/relationships/image"/><Relationship Id="rId5" Target="../media/image14.png" Type="http://schemas.openxmlformats.org/officeDocument/2006/relationships/image"/><Relationship Id="rId6" Target="../media/image1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Relationship Id="rId3" Target="../media/image17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Relationship Id="rId3" Target="../media/image19.png" Type="http://schemas.openxmlformats.org/officeDocument/2006/relationships/image"/><Relationship Id="rId4" Target="../media/image20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Relationship Id="rId3" Target="../media/image22.png" Type="http://schemas.openxmlformats.org/officeDocument/2006/relationships/image"/><Relationship Id="rId4" Target="../media/image23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4.png" Type="http://schemas.openxmlformats.org/officeDocument/2006/relationships/image"/><Relationship Id="rId3" Target="../media/image25.png" Type="http://schemas.openxmlformats.org/officeDocument/2006/relationships/image"/><Relationship Id="rId4" Target="../media/image26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7.jpeg" Type="http://schemas.openxmlformats.org/officeDocument/2006/relationships/image"/><Relationship Id="rId3" Target="../media/VAHIFGQfXWg.mp4" Type="http://schemas.openxmlformats.org/officeDocument/2006/relationships/video"/><Relationship Id="rId4" Target="../media/VAHIFGQfXWg.mp4" Type="http://schemas.microsoft.com/office/2007/relationships/media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5028099" y="1539161"/>
            <a:ext cx="7719139" cy="7719139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5596960" y="1539161"/>
            <a:ext cx="7719139" cy="7719139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-339411" y="3743879"/>
            <a:ext cx="4362081" cy="6543121"/>
          </a:xfrm>
          <a:custGeom>
            <a:avLst/>
            <a:gdLst/>
            <a:ahLst/>
            <a:cxnLst/>
            <a:rect r="r" b="b" t="t" l="l"/>
            <a:pathLst>
              <a:path h="6543121" w="4362081">
                <a:moveTo>
                  <a:pt x="0" y="0"/>
                </a:moveTo>
                <a:lnTo>
                  <a:pt x="4362081" y="0"/>
                </a:lnTo>
                <a:lnTo>
                  <a:pt x="4362081" y="6543121"/>
                </a:lnTo>
                <a:lnTo>
                  <a:pt x="0" y="654312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4334028" y="8361045"/>
            <a:ext cx="9795183" cy="2301868"/>
          </a:xfrm>
          <a:custGeom>
            <a:avLst/>
            <a:gdLst/>
            <a:ahLst/>
            <a:cxnLst/>
            <a:rect r="r" b="b" t="t" l="l"/>
            <a:pathLst>
              <a:path h="2301868" w="9795183">
                <a:moveTo>
                  <a:pt x="0" y="0"/>
                </a:moveTo>
                <a:lnTo>
                  <a:pt x="9795184" y="0"/>
                </a:lnTo>
                <a:lnTo>
                  <a:pt x="9795184" y="2301868"/>
                </a:lnTo>
                <a:lnTo>
                  <a:pt x="0" y="230186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2875399" y="6009010"/>
            <a:ext cx="6743893" cy="4495929"/>
          </a:xfrm>
          <a:custGeom>
            <a:avLst/>
            <a:gdLst/>
            <a:ahLst/>
            <a:cxnLst/>
            <a:rect r="r" b="b" t="t" l="l"/>
            <a:pathLst>
              <a:path h="4495929" w="6743893">
                <a:moveTo>
                  <a:pt x="0" y="0"/>
                </a:moveTo>
                <a:lnTo>
                  <a:pt x="6743892" y="0"/>
                </a:lnTo>
                <a:lnTo>
                  <a:pt x="6743892" y="4495928"/>
                </a:lnTo>
                <a:lnTo>
                  <a:pt x="0" y="449592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1" id="11"/>
          <p:cNvSpPr/>
          <p:nvPr/>
        </p:nvSpPr>
        <p:spPr>
          <a:xfrm flipH="false" flipV="false" rot="0">
            <a:off x="7960258" y="1718310"/>
            <a:ext cx="2367484" cy="2367484"/>
          </a:xfrm>
          <a:custGeom>
            <a:avLst/>
            <a:gdLst/>
            <a:ahLst/>
            <a:cxnLst/>
            <a:rect r="r" b="b" t="t" l="l"/>
            <a:pathLst>
              <a:path h="2367484" w="2367484">
                <a:moveTo>
                  <a:pt x="0" y="0"/>
                </a:moveTo>
                <a:lnTo>
                  <a:pt x="2367484" y="0"/>
                </a:lnTo>
                <a:lnTo>
                  <a:pt x="2367484" y="2367484"/>
                </a:lnTo>
                <a:lnTo>
                  <a:pt x="0" y="236748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1567735">
            <a:off x="5154945" y="4035668"/>
            <a:ext cx="7978110" cy="5579462"/>
          </a:xfrm>
          <a:custGeom>
            <a:avLst/>
            <a:gdLst/>
            <a:ahLst/>
            <a:cxnLst/>
            <a:rect r="r" b="b" t="t" l="l"/>
            <a:pathLst>
              <a:path h="5579462" w="7978110">
                <a:moveTo>
                  <a:pt x="0" y="0"/>
                </a:moveTo>
                <a:lnTo>
                  <a:pt x="7978110" y="0"/>
                </a:lnTo>
                <a:lnTo>
                  <a:pt x="7978110" y="5579463"/>
                </a:lnTo>
                <a:lnTo>
                  <a:pt x="0" y="557946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3" id="13"/>
          <p:cNvSpPr/>
          <p:nvPr/>
        </p:nvSpPr>
        <p:spPr>
          <a:xfrm flipH="false" flipV="false" rot="0">
            <a:off x="4529579" y="5260720"/>
            <a:ext cx="1496580" cy="1496580"/>
          </a:xfrm>
          <a:custGeom>
            <a:avLst/>
            <a:gdLst/>
            <a:ahLst/>
            <a:cxnLst/>
            <a:rect r="r" b="b" t="t" l="l"/>
            <a:pathLst>
              <a:path h="1496580" w="1496580">
                <a:moveTo>
                  <a:pt x="0" y="0"/>
                </a:moveTo>
                <a:lnTo>
                  <a:pt x="1496579" y="0"/>
                </a:lnTo>
                <a:lnTo>
                  <a:pt x="1496579" y="1496580"/>
                </a:lnTo>
                <a:lnTo>
                  <a:pt x="0" y="149658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4958875" y="5579322"/>
            <a:ext cx="8370250" cy="773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57"/>
              </a:lnSpc>
              <a:spcBef>
                <a:spcPct val="0"/>
              </a:spcBef>
            </a:pPr>
            <a:r>
              <a:rPr lang="en-US" b="true" sz="4540" spc="1362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SUMMER DEMO</a:t>
            </a:r>
          </a:p>
        </p:txBody>
      </p:sp>
      <p:sp>
        <p:nvSpPr>
          <p:cNvPr name="Freeform 15" id="15"/>
          <p:cNvSpPr/>
          <p:nvPr/>
        </p:nvSpPr>
        <p:spPr>
          <a:xfrm flipH="true" flipV="false" rot="0">
            <a:off x="12278577" y="5260720"/>
            <a:ext cx="1496580" cy="1496580"/>
          </a:xfrm>
          <a:custGeom>
            <a:avLst/>
            <a:gdLst/>
            <a:ahLst/>
            <a:cxnLst/>
            <a:rect r="r" b="b" t="t" l="l"/>
            <a:pathLst>
              <a:path h="1496580" w="1496580">
                <a:moveTo>
                  <a:pt x="1496580" y="0"/>
                </a:moveTo>
                <a:lnTo>
                  <a:pt x="0" y="0"/>
                </a:lnTo>
                <a:lnTo>
                  <a:pt x="0" y="1496580"/>
                </a:lnTo>
                <a:lnTo>
                  <a:pt x="1496580" y="1496580"/>
                </a:lnTo>
                <a:lnTo>
                  <a:pt x="149658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0">
            <a:off x="14277023" y="8791575"/>
            <a:ext cx="949643" cy="306705"/>
            <a:chOff x="0" y="0"/>
            <a:chExt cx="1266190" cy="40894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50800" y="50462"/>
              <a:ext cx="1163320" cy="306408"/>
            </a:xfrm>
            <a:custGeom>
              <a:avLst/>
              <a:gdLst/>
              <a:ahLst/>
              <a:cxnLst/>
              <a:rect r="r" b="b" t="t" l="l"/>
              <a:pathLst>
                <a:path h="306408" w="1163320">
                  <a:moveTo>
                    <a:pt x="0" y="99398"/>
                  </a:moveTo>
                  <a:cubicBezTo>
                    <a:pt x="0" y="62568"/>
                    <a:pt x="0" y="51138"/>
                    <a:pt x="5080" y="43518"/>
                  </a:cubicBezTo>
                  <a:cubicBezTo>
                    <a:pt x="11430" y="35898"/>
                    <a:pt x="24130" y="33358"/>
                    <a:pt x="34290" y="29548"/>
                  </a:cubicBezTo>
                  <a:cubicBezTo>
                    <a:pt x="44450" y="25738"/>
                    <a:pt x="58420" y="27008"/>
                    <a:pt x="68580" y="24468"/>
                  </a:cubicBezTo>
                  <a:cubicBezTo>
                    <a:pt x="74930" y="21928"/>
                    <a:pt x="80010" y="20658"/>
                    <a:pt x="85090" y="18118"/>
                  </a:cubicBezTo>
                  <a:cubicBezTo>
                    <a:pt x="87630" y="15578"/>
                    <a:pt x="87630" y="13038"/>
                    <a:pt x="90170" y="10498"/>
                  </a:cubicBezTo>
                  <a:cubicBezTo>
                    <a:pt x="96520" y="6688"/>
                    <a:pt x="109220" y="1608"/>
                    <a:pt x="119380" y="338"/>
                  </a:cubicBezTo>
                  <a:cubicBezTo>
                    <a:pt x="130810" y="-932"/>
                    <a:pt x="146050" y="1608"/>
                    <a:pt x="156210" y="4148"/>
                  </a:cubicBezTo>
                  <a:cubicBezTo>
                    <a:pt x="165100" y="6688"/>
                    <a:pt x="175260" y="11768"/>
                    <a:pt x="180340" y="14308"/>
                  </a:cubicBezTo>
                  <a:cubicBezTo>
                    <a:pt x="184150" y="14308"/>
                    <a:pt x="184150" y="16848"/>
                    <a:pt x="186690" y="16848"/>
                  </a:cubicBezTo>
                  <a:cubicBezTo>
                    <a:pt x="191770" y="16848"/>
                    <a:pt x="198120" y="14308"/>
                    <a:pt x="204470" y="13038"/>
                  </a:cubicBezTo>
                  <a:cubicBezTo>
                    <a:pt x="213360" y="10498"/>
                    <a:pt x="222250" y="9228"/>
                    <a:pt x="231140" y="7958"/>
                  </a:cubicBezTo>
                  <a:cubicBezTo>
                    <a:pt x="240030" y="7958"/>
                    <a:pt x="248920" y="7958"/>
                    <a:pt x="257810" y="7958"/>
                  </a:cubicBezTo>
                  <a:cubicBezTo>
                    <a:pt x="266700" y="7958"/>
                    <a:pt x="275590" y="7958"/>
                    <a:pt x="284480" y="7958"/>
                  </a:cubicBezTo>
                  <a:cubicBezTo>
                    <a:pt x="294640" y="7958"/>
                    <a:pt x="303530" y="7958"/>
                    <a:pt x="313690" y="7958"/>
                  </a:cubicBezTo>
                  <a:cubicBezTo>
                    <a:pt x="323850" y="9228"/>
                    <a:pt x="332740" y="7958"/>
                    <a:pt x="341630" y="9228"/>
                  </a:cubicBezTo>
                  <a:cubicBezTo>
                    <a:pt x="351790" y="9228"/>
                    <a:pt x="363220" y="11768"/>
                    <a:pt x="373380" y="13038"/>
                  </a:cubicBezTo>
                  <a:cubicBezTo>
                    <a:pt x="382270" y="14308"/>
                    <a:pt x="389890" y="15578"/>
                    <a:pt x="398780" y="16848"/>
                  </a:cubicBezTo>
                  <a:cubicBezTo>
                    <a:pt x="408940" y="19388"/>
                    <a:pt x="419100" y="20658"/>
                    <a:pt x="429260" y="21928"/>
                  </a:cubicBezTo>
                  <a:cubicBezTo>
                    <a:pt x="439420" y="21928"/>
                    <a:pt x="450850" y="21928"/>
                    <a:pt x="461010" y="21928"/>
                  </a:cubicBezTo>
                  <a:cubicBezTo>
                    <a:pt x="469900" y="21928"/>
                    <a:pt x="478790" y="21928"/>
                    <a:pt x="486410" y="21928"/>
                  </a:cubicBezTo>
                  <a:cubicBezTo>
                    <a:pt x="495300" y="21928"/>
                    <a:pt x="505460" y="20658"/>
                    <a:pt x="514350" y="21928"/>
                  </a:cubicBezTo>
                  <a:cubicBezTo>
                    <a:pt x="523240" y="21928"/>
                    <a:pt x="533400" y="24468"/>
                    <a:pt x="543560" y="25738"/>
                  </a:cubicBezTo>
                  <a:cubicBezTo>
                    <a:pt x="552450" y="27008"/>
                    <a:pt x="561340" y="28278"/>
                    <a:pt x="571500" y="29548"/>
                  </a:cubicBezTo>
                  <a:cubicBezTo>
                    <a:pt x="581660" y="32088"/>
                    <a:pt x="593090" y="33358"/>
                    <a:pt x="604520" y="34628"/>
                  </a:cubicBezTo>
                  <a:cubicBezTo>
                    <a:pt x="614680" y="37168"/>
                    <a:pt x="626110" y="38438"/>
                    <a:pt x="636270" y="39708"/>
                  </a:cubicBezTo>
                  <a:cubicBezTo>
                    <a:pt x="645160" y="40978"/>
                    <a:pt x="655320" y="42248"/>
                    <a:pt x="664210" y="43518"/>
                  </a:cubicBezTo>
                  <a:cubicBezTo>
                    <a:pt x="674370" y="43518"/>
                    <a:pt x="683260" y="43518"/>
                    <a:pt x="693420" y="42248"/>
                  </a:cubicBezTo>
                  <a:cubicBezTo>
                    <a:pt x="702310" y="42248"/>
                    <a:pt x="709930" y="39708"/>
                    <a:pt x="721360" y="38438"/>
                  </a:cubicBezTo>
                  <a:cubicBezTo>
                    <a:pt x="736600" y="37168"/>
                    <a:pt x="762000" y="38438"/>
                    <a:pt x="777240" y="38438"/>
                  </a:cubicBezTo>
                  <a:cubicBezTo>
                    <a:pt x="787400" y="38438"/>
                    <a:pt x="793750" y="38438"/>
                    <a:pt x="802640" y="38438"/>
                  </a:cubicBezTo>
                  <a:cubicBezTo>
                    <a:pt x="811530" y="38438"/>
                    <a:pt x="820420" y="38438"/>
                    <a:pt x="829310" y="38438"/>
                  </a:cubicBezTo>
                  <a:cubicBezTo>
                    <a:pt x="836930" y="38438"/>
                    <a:pt x="845820" y="38438"/>
                    <a:pt x="854710" y="38438"/>
                  </a:cubicBezTo>
                  <a:cubicBezTo>
                    <a:pt x="863600" y="38438"/>
                    <a:pt x="872490" y="38438"/>
                    <a:pt x="880110" y="38438"/>
                  </a:cubicBezTo>
                  <a:cubicBezTo>
                    <a:pt x="889000" y="38438"/>
                    <a:pt x="897890" y="38438"/>
                    <a:pt x="906780" y="38438"/>
                  </a:cubicBezTo>
                  <a:cubicBezTo>
                    <a:pt x="915670" y="38438"/>
                    <a:pt x="927100" y="38438"/>
                    <a:pt x="935990" y="38438"/>
                  </a:cubicBezTo>
                  <a:cubicBezTo>
                    <a:pt x="946150" y="39708"/>
                    <a:pt x="955040" y="42248"/>
                    <a:pt x="965200" y="43518"/>
                  </a:cubicBezTo>
                  <a:cubicBezTo>
                    <a:pt x="975360" y="46058"/>
                    <a:pt x="986790" y="47328"/>
                    <a:pt x="996950" y="47328"/>
                  </a:cubicBezTo>
                  <a:cubicBezTo>
                    <a:pt x="1005840" y="47328"/>
                    <a:pt x="1014730" y="43518"/>
                    <a:pt x="1023620" y="43518"/>
                  </a:cubicBezTo>
                  <a:cubicBezTo>
                    <a:pt x="1032510" y="42248"/>
                    <a:pt x="1040130" y="44788"/>
                    <a:pt x="1050290" y="44788"/>
                  </a:cubicBezTo>
                  <a:cubicBezTo>
                    <a:pt x="1061720" y="43518"/>
                    <a:pt x="1079500" y="35898"/>
                    <a:pt x="1089660" y="39708"/>
                  </a:cubicBezTo>
                  <a:cubicBezTo>
                    <a:pt x="1098550" y="42248"/>
                    <a:pt x="1106170" y="51138"/>
                    <a:pt x="1111250" y="58758"/>
                  </a:cubicBezTo>
                  <a:cubicBezTo>
                    <a:pt x="1115060" y="66378"/>
                    <a:pt x="1113790" y="76538"/>
                    <a:pt x="1115060" y="85428"/>
                  </a:cubicBezTo>
                  <a:cubicBezTo>
                    <a:pt x="1115060" y="93048"/>
                    <a:pt x="1115060" y="101938"/>
                    <a:pt x="1115060" y="110828"/>
                  </a:cubicBezTo>
                  <a:cubicBezTo>
                    <a:pt x="1115060" y="119718"/>
                    <a:pt x="1113790" y="129878"/>
                    <a:pt x="1115060" y="140038"/>
                  </a:cubicBezTo>
                  <a:cubicBezTo>
                    <a:pt x="1115060" y="148928"/>
                    <a:pt x="1117600" y="155278"/>
                    <a:pt x="1118870" y="165438"/>
                  </a:cubicBezTo>
                  <a:cubicBezTo>
                    <a:pt x="1120140" y="175598"/>
                    <a:pt x="1120140" y="187028"/>
                    <a:pt x="1121410" y="197188"/>
                  </a:cubicBezTo>
                  <a:cubicBezTo>
                    <a:pt x="1123950" y="207348"/>
                    <a:pt x="1127760" y="218778"/>
                    <a:pt x="1127760" y="227668"/>
                  </a:cubicBezTo>
                  <a:cubicBezTo>
                    <a:pt x="1127760" y="234018"/>
                    <a:pt x="1123950" y="244178"/>
                    <a:pt x="1125220" y="246718"/>
                  </a:cubicBezTo>
                  <a:cubicBezTo>
                    <a:pt x="1126490" y="246718"/>
                    <a:pt x="1127760" y="246718"/>
                    <a:pt x="1130300" y="246718"/>
                  </a:cubicBezTo>
                  <a:cubicBezTo>
                    <a:pt x="1131570" y="246718"/>
                    <a:pt x="1136650" y="245448"/>
                    <a:pt x="1137920" y="246718"/>
                  </a:cubicBezTo>
                  <a:cubicBezTo>
                    <a:pt x="1139190" y="246718"/>
                    <a:pt x="1140460" y="246718"/>
                    <a:pt x="1141730" y="246718"/>
                  </a:cubicBezTo>
                  <a:cubicBezTo>
                    <a:pt x="1141730" y="246718"/>
                    <a:pt x="1144270" y="246718"/>
                    <a:pt x="1144270" y="246718"/>
                  </a:cubicBezTo>
                  <a:cubicBezTo>
                    <a:pt x="1144270" y="246718"/>
                    <a:pt x="1146810" y="247988"/>
                    <a:pt x="1146810" y="247988"/>
                  </a:cubicBezTo>
                  <a:cubicBezTo>
                    <a:pt x="1148080" y="247988"/>
                    <a:pt x="1150620" y="249258"/>
                    <a:pt x="1150620" y="249258"/>
                  </a:cubicBezTo>
                  <a:cubicBezTo>
                    <a:pt x="1150620" y="249258"/>
                    <a:pt x="1151890" y="250528"/>
                    <a:pt x="1153160" y="250528"/>
                  </a:cubicBezTo>
                  <a:cubicBezTo>
                    <a:pt x="1153160" y="251798"/>
                    <a:pt x="1154430" y="253068"/>
                    <a:pt x="1155700" y="253068"/>
                  </a:cubicBezTo>
                  <a:cubicBezTo>
                    <a:pt x="1155700" y="253068"/>
                    <a:pt x="1156970" y="254338"/>
                    <a:pt x="1156970" y="254338"/>
                  </a:cubicBezTo>
                  <a:cubicBezTo>
                    <a:pt x="1158240" y="255608"/>
                    <a:pt x="1159510" y="256878"/>
                    <a:pt x="1159510" y="256878"/>
                  </a:cubicBezTo>
                  <a:cubicBezTo>
                    <a:pt x="1159510" y="256878"/>
                    <a:pt x="1159510" y="259418"/>
                    <a:pt x="1160780" y="259418"/>
                  </a:cubicBezTo>
                  <a:cubicBezTo>
                    <a:pt x="1160780" y="260688"/>
                    <a:pt x="1162050" y="261958"/>
                    <a:pt x="1162050" y="261958"/>
                  </a:cubicBezTo>
                  <a:cubicBezTo>
                    <a:pt x="1162050" y="263228"/>
                    <a:pt x="1162050" y="264498"/>
                    <a:pt x="1163320" y="265768"/>
                  </a:cubicBezTo>
                  <a:cubicBezTo>
                    <a:pt x="1163320" y="267038"/>
                    <a:pt x="1163320" y="268308"/>
                    <a:pt x="1163320" y="268308"/>
                  </a:cubicBezTo>
                  <a:cubicBezTo>
                    <a:pt x="1163320" y="268308"/>
                    <a:pt x="1163320" y="270848"/>
                    <a:pt x="1163320" y="272118"/>
                  </a:cubicBezTo>
                  <a:cubicBezTo>
                    <a:pt x="1163320" y="272118"/>
                    <a:pt x="1163320" y="274658"/>
                    <a:pt x="1163320" y="274658"/>
                  </a:cubicBezTo>
                  <a:cubicBezTo>
                    <a:pt x="1163320" y="274658"/>
                    <a:pt x="1163320" y="277198"/>
                    <a:pt x="1163320" y="277198"/>
                  </a:cubicBezTo>
                  <a:cubicBezTo>
                    <a:pt x="1162050" y="278468"/>
                    <a:pt x="1162050" y="281008"/>
                    <a:pt x="1162050" y="281008"/>
                  </a:cubicBezTo>
                  <a:cubicBezTo>
                    <a:pt x="1162050" y="281008"/>
                    <a:pt x="1160780" y="282278"/>
                    <a:pt x="1160780" y="283548"/>
                  </a:cubicBezTo>
                  <a:cubicBezTo>
                    <a:pt x="1159510" y="284818"/>
                    <a:pt x="1159510" y="286088"/>
                    <a:pt x="1159510" y="286088"/>
                  </a:cubicBezTo>
                  <a:cubicBezTo>
                    <a:pt x="1159510" y="286088"/>
                    <a:pt x="1158240" y="287358"/>
                    <a:pt x="1156970" y="288628"/>
                  </a:cubicBezTo>
                  <a:cubicBezTo>
                    <a:pt x="1156970" y="288628"/>
                    <a:pt x="1155700" y="291168"/>
                    <a:pt x="1155700" y="291168"/>
                  </a:cubicBezTo>
                  <a:cubicBezTo>
                    <a:pt x="1154430" y="291168"/>
                    <a:pt x="1153160" y="291168"/>
                    <a:pt x="1153160" y="292438"/>
                  </a:cubicBezTo>
                  <a:cubicBezTo>
                    <a:pt x="1151890" y="292438"/>
                    <a:pt x="1150620" y="293708"/>
                    <a:pt x="1150620" y="293708"/>
                  </a:cubicBezTo>
                  <a:cubicBezTo>
                    <a:pt x="1150620" y="293708"/>
                    <a:pt x="1148080" y="294978"/>
                    <a:pt x="1146810" y="294978"/>
                  </a:cubicBezTo>
                  <a:cubicBezTo>
                    <a:pt x="1146810" y="294978"/>
                    <a:pt x="1144270" y="296248"/>
                    <a:pt x="1144270" y="296248"/>
                  </a:cubicBezTo>
                  <a:cubicBezTo>
                    <a:pt x="1144270" y="296248"/>
                    <a:pt x="1141730" y="296248"/>
                    <a:pt x="1141730" y="296248"/>
                  </a:cubicBezTo>
                  <a:cubicBezTo>
                    <a:pt x="1140460" y="296248"/>
                    <a:pt x="1139190" y="297518"/>
                    <a:pt x="1137920" y="297518"/>
                  </a:cubicBezTo>
                  <a:cubicBezTo>
                    <a:pt x="1136650" y="297518"/>
                    <a:pt x="1115060" y="296248"/>
                    <a:pt x="1104900" y="297518"/>
                  </a:cubicBezTo>
                  <a:cubicBezTo>
                    <a:pt x="1096010" y="297518"/>
                    <a:pt x="1087120" y="298788"/>
                    <a:pt x="1078230" y="298788"/>
                  </a:cubicBezTo>
                  <a:cubicBezTo>
                    <a:pt x="1068070" y="300058"/>
                    <a:pt x="1057910" y="301328"/>
                    <a:pt x="1047750" y="301328"/>
                  </a:cubicBezTo>
                  <a:cubicBezTo>
                    <a:pt x="1037590" y="301328"/>
                    <a:pt x="1028700" y="301328"/>
                    <a:pt x="1019810" y="301328"/>
                  </a:cubicBezTo>
                  <a:cubicBezTo>
                    <a:pt x="1008380" y="302598"/>
                    <a:pt x="994410" y="305138"/>
                    <a:pt x="982980" y="305138"/>
                  </a:cubicBezTo>
                  <a:cubicBezTo>
                    <a:pt x="972820" y="306408"/>
                    <a:pt x="962660" y="306408"/>
                    <a:pt x="953770" y="306408"/>
                  </a:cubicBezTo>
                  <a:cubicBezTo>
                    <a:pt x="943610" y="305138"/>
                    <a:pt x="932180" y="302598"/>
                    <a:pt x="924560" y="301328"/>
                  </a:cubicBezTo>
                  <a:cubicBezTo>
                    <a:pt x="918210" y="301328"/>
                    <a:pt x="914400" y="298788"/>
                    <a:pt x="909320" y="298788"/>
                  </a:cubicBezTo>
                  <a:cubicBezTo>
                    <a:pt x="904240" y="298788"/>
                    <a:pt x="899160" y="301328"/>
                    <a:pt x="894080" y="301328"/>
                  </a:cubicBezTo>
                  <a:cubicBezTo>
                    <a:pt x="885190" y="302598"/>
                    <a:pt x="871220" y="302598"/>
                    <a:pt x="861060" y="301328"/>
                  </a:cubicBezTo>
                  <a:cubicBezTo>
                    <a:pt x="850900" y="300058"/>
                    <a:pt x="843280" y="298788"/>
                    <a:pt x="834390" y="297518"/>
                  </a:cubicBezTo>
                  <a:cubicBezTo>
                    <a:pt x="826770" y="294978"/>
                    <a:pt x="817880" y="293708"/>
                    <a:pt x="808990" y="292438"/>
                  </a:cubicBezTo>
                  <a:cubicBezTo>
                    <a:pt x="801370" y="291168"/>
                    <a:pt x="795020" y="289898"/>
                    <a:pt x="786130" y="288628"/>
                  </a:cubicBezTo>
                  <a:cubicBezTo>
                    <a:pt x="770890" y="286088"/>
                    <a:pt x="742950" y="284818"/>
                    <a:pt x="726440" y="283548"/>
                  </a:cubicBezTo>
                  <a:cubicBezTo>
                    <a:pt x="716280" y="283548"/>
                    <a:pt x="708660" y="283548"/>
                    <a:pt x="698500" y="283548"/>
                  </a:cubicBezTo>
                  <a:cubicBezTo>
                    <a:pt x="689610" y="283548"/>
                    <a:pt x="680720" y="283548"/>
                    <a:pt x="673100" y="283548"/>
                  </a:cubicBezTo>
                  <a:cubicBezTo>
                    <a:pt x="664210" y="283548"/>
                    <a:pt x="656590" y="281008"/>
                    <a:pt x="648970" y="281008"/>
                  </a:cubicBezTo>
                  <a:cubicBezTo>
                    <a:pt x="641350" y="281008"/>
                    <a:pt x="635000" y="283548"/>
                    <a:pt x="627380" y="283548"/>
                  </a:cubicBezTo>
                  <a:cubicBezTo>
                    <a:pt x="618490" y="283548"/>
                    <a:pt x="608330" y="283548"/>
                    <a:pt x="599440" y="283548"/>
                  </a:cubicBezTo>
                  <a:cubicBezTo>
                    <a:pt x="590550" y="283548"/>
                    <a:pt x="581660" y="283548"/>
                    <a:pt x="574040" y="283548"/>
                  </a:cubicBezTo>
                  <a:cubicBezTo>
                    <a:pt x="563880" y="283548"/>
                    <a:pt x="554990" y="284818"/>
                    <a:pt x="546100" y="283548"/>
                  </a:cubicBezTo>
                  <a:cubicBezTo>
                    <a:pt x="537210" y="283548"/>
                    <a:pt x="527050" y="279738"/>
                    <a:pt x="520700" y="279738"/>
                  </a:cubicBezTo>
                  <a:cubicBezTo>
                    <a:pt x="518160" y="279738"/>
                    <a:pt x="516890" y="279738"/>
                    <a:pt x="513080" y="279738"/>
                  </a:cubicBezTo>
                  <a:cubicBezTo>
                    <a:pt x="506730" y="279738"/>
                    <a:pt x="495300" y="279738"/>
                    <a:pt x="486410" y="279738"/>
                  </a:cubicBezTo>
                  <a:cubicBezTo>
                    <a:pt x="478790" y="279738"/>
                    <a:pt x="468630" y="281008"/>
                    <a:pt x="461010" y="279738"/>
                  </a:cubicBezTo>
                  <a:cubicBezTo>
                    <a:pt x="454660" y="279738"/>
                    <a:pt x="445770" y="277198"/>
                    <a:pt x="443230" y="277198"/>
                  </a:cubicBezTo>
                  <a:cubicBezTo>
                    <a:pt x="441960" y="277198"/>
                    <a:pt x="441960" y="277198"/>
                    <a:pt x="441960" y="277198"/>
                  </a:cubicBezTo>
                  <a:cubicBezTo>
                    <a:pt x="441960" y="277198"/>
                    <a:pt x="439420" y="277198"/>
                    <a:pt x="438150" y="277198"/>
                  </a:cubicBezTo>
                  <a:cubicBezTo>
                    <a:pt x="438150" y="277198"/>
                    <a:pt x="435610" y="277198"/>
                    <a:pt x="435610" y="277198"/>
                  </a:cubicBezTo>
                  <a:cubicBezTo>
                    <a:pt x="435610" y="277198"/>
                    <a:pt x="434340" y="275928"/>
                    <a:pt x="433070" y="275928"/>
                  </a:cubicBezTo>
                  <a:cubicBezTo>
                    <a:pt x="431800" y="275928"/>
                    <a:pt x="430530" y="274658"/>
                    <a:pt x="430530" y="274658"/>
                  </a:cubicBezTo>
                  <a:cubicBezTo>
                    <a:pt x="429260" y="274658"/>
                    <a:pt x="427990" y="273388"/>
                    <a:pt x="427990" y="273388"/>
                  </a:cubicBezTo>
                  <a:cubicBezTo>
                    <a:pt x="426720" y="272118"/>
                    <a:pt x="425450" y="270848"/>
                    <a:pt x="425450" y="270848"/>
                  </a:cubicBezTo>
                  <a:cubicBezTo>
                    <a:pt x="425450" y="270848"/>
                    <a:pt x="422910" y="269578"/>
                    <a:pt x="422910" y="268308"/>
                  </a:cubicBezTo>
                  <a:cubicBezTo>
                    <a:pt x="421640" y="268308"/>
                    <a:pt x="420370" y="267038"/>
                    <a:pt x="420370" y="267038"/>
                  </a:cubicBezTo>
                  <a:cubicBezTo>
                    <a:pt x="420370" y="267038"/>
                    <a:pt x="420370" y="264498"/>
                    <a:pt x="419100" y="263228"/>
                  </a:cubicBezTo>
                  <a:cubicBezTo>
                    <a:pt x="419100" y="263228"/>
                    <a:pt x="417830" y="260688"/>
                    <a:pt x="417830" y="260688"/>
                  </a:cubicBezTo>
                  <a:cubicBezTo>
                    <a:pt x="417830" y="260688"/>
                    <a:pt x="417830" y="258148"/>
                    <a:pt x="417830" y="258148"/>
                  </a:cubicBezTo>
                  <a:cubicBezTo>
                    <a:pt x="416560" y="258148"/>
                    <a:pt x="401320" y="258148"/>
                    <a:pt x="393700" y="258148"/>
                  </a:cubicBezTo>
                  <a:cubicBezTo>
                    <a:pt x="384810" y="258148"/>
                    <a:pt x="375920" y="258148"/>
                    <a:pt x="368300" y="258148"/>
                  </a:cubicBezTo>
                  <a:cubicBezTo>
                    <a:pt x="359410" y="258148"/>
                    <a:pt x="350520" y="258148"/>
                    <a:pt x="341630" y="258148"/>
                  </a:cubicBezTo>
                  <a:cubicBezTo>
                    <a:pt x="332740" y="258148"/>
                    <a:pt x="322580" y="258148"/>
                    <a:pt x="313690" y="258148"/>
                  </a:cubicBezTo>
                  <a:cubicBezTo>
                    <a:pt x="303530" y="256878"/>
                    <a:pt x="292100" y="254338"/>
                    <a:pt x="281940" y="254338"/>
                  </a:cubicBezTo>
                  <a:cubicBezTo>
                    <a:pt x="271780" y="253068"/>
                    <a:pt x="262890" y="254338"/>
                    <a:pt x="252730" y="253068"/>
                  </a:cubicBezTo>
                  <a:cubicBezTo>
                    <a:pt x="241300" y="251798"/>
                    <a:pt x="229870" y="246718"/>
                    <a:pt x="218440" y="244178"/>
                  </a:cubicBezTo>
                  <a:cubicBezTo>
                    <a:pt x="207010" y="242908"/>
                    <a:pt x="195580" y="241638"/>
                    <a:pt x="185420" y="241638"/>
                  </a:cubicBezTo>
                  <a:cubicBezTo>
                    <a:pt x="177800" y="240368"/>
                    <a:pt x="167640" y="240368"/>
                    <a:pt x="163830" y="240368"/>
                  </a:cubicBezTo>
                  <a:cubicBezTo>
                    <a:pt x="161290" y="240368"/>
                    <a:pt x="161290" y="240368"/>
                    <a:pt x="160020" y="241638"/>
                  </a:cubicBezTo>
                  <a:cubicBezTo>
                    <a:pt x="154940" y="241638"/>
                    <a:pt x="143510" y="241638"/>
                    <a:pt x="134620" y="240368"/>
                  </a:cubicBezTo>
                  <a:cubicBezTo>
                    <a:pt x="124460" y="240368"/>
                    <a:pt x="107950" y="236558"/>
                    <a:pt x="105410" y="236558"/>
                  </a:cubicBezTo>
                  <a:cubicBezTo>
                    <a:pt x="104140" y="236558"/>
                    <a:pt x="104140" y="236558"/>
                    <a:pt x="104140" y="236558"/>
                  </a:cubicBezTo>
                  <a:cubicBezTo>
                    <a:pt x="101600" y="236558"/>
                    <a:pt x="93980" y="235288"/>
                    <a:pt x="91440" y="235288"/>
                  </a:cubicBezTo>
                  <a:cubicBezTo>
                    <a:pt x="90170" y="235288"/>
                    <a:pt x="90170" y="235288"/>
                    <a:pt x="88900" y="235288"/>
                  </a:cubicBezTo>
                  <a:cubicBezTo>
                    <a:pt x="88900" y="235288"/>
                    <a:pt x="86360" y="235288"/>
                    <a:pt x="86360" y="235288"/>
                  </a:cubicBezTo>
                  <a:cubicBezTo>
                    <a:pt x="86360" y="235288"/>
                    <a:pt x="83820" y="235288"/>
                    <a:pt x="83820" y="235288"/>
                  </a:cubicBezTo>
                  <a:cubicBezTo>
                    <a:pt x="82550" y="235288"/>
                    <a:pt x="80010" y="234018"/>
                    <a:pt x="80010" y="234018"/>
                  </a:cubicBezTo>
                  <a:cubicBezTo>
                    <a:pt x="80010" y="234018"/>
                    <a:pt x="77470" y="232748"/>
                    <a:pt x="77470" y="232748"/>
                  </a:cubicBezTo>
                  <a:cubicBezTo>
                    <a:pt x="77470" y="232748"/>
                    <a:pt x="74930" y="231478"/>
                    <a:pt x="74930" y="231478"/>
                  </a:cubicBezTo>
                  <a:cubicBezTo>
                    <a:pt x="74930" y="231478"/>
                    <a:pt x="73660" y="230208"/>
                    <a:pt x="72390" y="230208"/>
                  </a:cubicBezTo>
                  <a:cubicBezTo>
                    <a:pt x="71120" y="228938"/>
                    <a:pt x="69850" y="227668"/>
                    <a:pt x="69850" y="227668"/>
                  </a:cubicBezTo>
                  <a:cubicBezTo>
                    <a:pt x="69850" y="227668"/>
                    <a:pt x="68580" y="226398"/>
                    <a:pt x="68580" y="225128"/>
                  </a:cubicBezTo>
                  <a:cubicBezTo>
                    <a:pt x="67310" y="225128"/>
                    <a:pt x="67310" y="225128"/>
                    <a:pt x="67310" y="225128"/>
                  </a:cubicBezTo>
                  <a:cubicBezTo>
                    <a:pt x="64770" y="223858"/>
                    <a:pt x="52070" y="221318"/>
                    <a:pt x="44450" y="216238"/>
                  </a:cubicBezTo>
                  <a:cubicBezTo>
                    <a:pt x="35560" y="211158"/>
                    <a:pt x="25400" y="199728"/>
                    <a:pt x="19050" y="189568"/>
                  </a:cubicBezTo>
                  <a:cubicBezTo>
                    <a:pt x="13970" y="179408"/>
                    <a:pt x="10160" y="167978"/>
                    <a:pt x="7620" y="156548"/>
                  </a:cubicBezTo>
                  <a:cubicBezTo>
                    <a:pt x="6350" y="147658"/>
                    <a:pt x="6350" y="138768"/>
                    <a:pt x="5080" y="129878"/>
                  </a:cubicBezTo>
                  <a:cubicBezTo>
                    <a:pt x="3810" y="119718"/>
                    <a:pt x="0" y="99398"/>
                    <a:pt x="0" y="99398"/>
                  </a:cubicBezTo>
                  <a:moveTo>
                    <a:pt x="43180" y="79078"/>
                  </a:moveTo>
                  <a:cubicBezTo>
                    <a:pt x="45720" y="85428"/>
                    <a:pt x="46990" y="79078"/>
                    <a:pt x="45720" y="79078"/>
                  </a:cubicBezTo>
                  <a:cubicBezTo>
                    <a:pt x="45720" y="77808"/>
                    <a:pt x="43180" y="79078"/>
                    <a:pt x="43180" y="79078"/>
                  </a:cubicBezTo>
                  <a:moveTo>
                    <a:pt x="52070" y="114638"/>
                  </a:moveTo>
                  <a:cubicBezTo>
                    <a:pt x="53340" y="119718"/>
                    <a:pt x="54610" y="117178"/>
                    <a:pt x="54610" y="115908"/>
                  </a:cubicBezTo>
                  <a:cubicBezTo>
                    <a:pt x="54610" y="115908"/>
                    <a:pt x="54610" y="115908"/>
                    <a:pt x="53340" y="115908"/>
                  </a:cubicBezTo>
                  <a:cubicBezTo>
                    <a:pt x="53340" y="115908"/>
                    <a:pt x="52070" y="114638"/>
                    <a:pt x="52070" y="114638"/>
                  </a:cubicBezTo>
                  <a:moveTo>
                    <a:pt x="101600" y="137498"/>
                  </a:moveTo>
                  <a:cubicBezTo>
                    <a:pt x="110490" y="134958"/>
                    <a:pt x="113030" y="133688"/>
                    <a:pt x="113030" y="133688"/>
                  </a:cubicBezTo>
                  <a:cubicBezTo>
                    <a:pt x="113030" y="132418"/>
                    <a:pt x="113030" y="132418"/>
                    <a:pt x="111760" y="132418"/>
                  </a:cubicBezTo>
                  <a:cubicBezTo>
                    <a:pt x="110490" y="132418"/>
                    <a:pt x="106680" y="129878"/>
                    <a:pt x="105410" y="131148"/>
                  </a:cubicBezTo>
                  <a:cubicBezTo>
                    <a:pt x="104140" y="131148"/>
                    <a:pt x="104140" y="132418"/>
                    <a:pt x="104140" y="133688"/>
                  </a:cubicBezTo>
                  <a:cubicBezTo>
                    <a:pt x="104140" y="134958"/>
                    <a:pt x="101600" y="137498"/>
                    <a:pt x="101600" y="137498"/>
                  </a:cubicBezTo>
                  <a:moveTo>
                    <a:pt x="598170" y="179408"/>
                  </a:moveTo>
                  <a:cubicBezTo>
                    <a:pt x="604520" y="181948"/>
                    <a:pt x="604520" y="181948"/>
                    <a:pt x="605790" y="183218"/>
                  </a:cubicBezTo>
                  <a:cubicBezTo>
                    <a:pt x="607060" y="183218"/>
                    <a:pt x="608330" y="184488"/>
                    <a:pt x="608330" y="184488"/>
                  </a:cubicBezTo>
                  <a:cubicBezTo>
                    <a:pt x="608330" y="184488"/>
                    <a:pt x="610870" y="185758"/>
                    <a:pt x="610870" y="185758"/>
                  </a:cubicBezTo>
                  <a:cubicBezTo>
                    <a:pt x="612140" y="187028"/>
                    <a:pt x="613410" y="188298"/>
                    <a:pt x="613410" y="188298"/>
                  </a:cubicBezTo>
                  <a:cubicBezTo>
                    <a:pt x="613410" y="188298"/>
                    <a:pt x="614680" y="189568"/>
                    <a:pt x="615950" y="190838"/>
                  </a:cubicBezTo>
                  <a:cubicBezTo>
                    <a:pt x="615950" y="190838"/>
                    <a:pt x="617220" y="193378"/>
                    <a:pt x="617220" y="193378"/>
                  </a:cubicBezTo>
                  <a:cubicBezTo>
                    <a:pt x="617220" y="193378"/>
                    <a:pt x="618490" y="194648"/>
                    <a:pt x="618490" y="195918"/>
                  </a:cubicBezTo>
                  <a:cubicBezTo>
                    <a:pt x="618490" y="197188"/>
                    <a:pt x="619760" y="198458"/>
                    <a:pt x="619760" y="198458"/>
                  </a:cubicBezTo>
                  <a:cubicBezTo>
                    <a:pt x="619760" y="199728"/>
                    <a:pt x="627380" y="198458"/>
                    <a:pt x="628650" y="198458"/>
                  </a:cubicBezTo>
                  <a:cubicBezTo>
                    <a:pt x="629920" y="198458"/>
                    <a:pt x="629920" y="198458"/>
                    <a:pt x="629920" y="198458"/>
                  </a:cubicBezTo>
                  <a:cubicBezTo>
                    <a:pt x="629920" y="198458"/>
                    <a:pt x="623570" y="197188"/>
                    <a:pt x="621030" y="194648"/>
                  </a:cubicBezTo>
                  <a:cubicBezTo>
                    <a:pt x="618490" y="190838"/>
                    <a:pt x="621030" y="181948"/>
                    <a:pt x="617220" y="179408"/>
                  </a:cubicBezTo>
                  <a:cubicBezTo>
                    <a:pt x="613410" y="175598"/>
                    <a:pt x="598170" y="179408"/>
                    <a:pt x="598170" y="179408"/>
                  </a:cubicBezTo>
                  <a:moveTo>
                    <a:pt x="711200" y="120988"/>
                  </a:moveTo>
                  <a:cubicBezTo>
                    <a:pt x="722630" y="128608"/>
                    <a:pt x="736600" y="117178"/>
                    <a:pt x="736600" y="117178"/>
                  </a:cubicBezTo>
                  <a:cubicBezTo>
                    <a:pt x="736600" y="117178"/>
                    <a:pt x="736600" y="117178"/>
                    <a:pt x="736600" y="115908"/>
                  </a:cubicBezTo>
                  <a:cubicBezTo>
                    <a:pt x="736600" y="115908"/>
                    <a:pt x="723900" y="114638"/>
                    <a:pt x="720090" y="114638"/>
                  </a:cubicBezTo>
                  <a:cubicBezTo>
                    <a:pt x="717550" y="113368"/>
                    <a:pt x="716280" y="112098"/>
                    <a:pt x="713740" y="112098"/>
                  </a:cubicBezTo>
                  <a:cubicBezTo>
                    <a:pt x="712470" y="113368"/>
                    <a:pt x="711200" y="120988"/>
                    <a:pt x="711200" y="120988"/>
                  </a:cubicBezTo>
                  <a:moveTo>
                    <a:pt x="831850" y="173058"/>
                  </a:moveTo>
                  <a:cubicBezTo>
                    <a:pt x="836930" y="173058"/>
                    <a:pt x="847090" y="166708"/>
                    <a:pt x="847090" y="165438"/>
                  </a:cubicBezTo>
                  <a:cubicBezTo>
                    <a:pt x="847090" y="165438"/>
                    <a:pt x="843280" y="164168"/>
                    <a:pt x="843280" y="164168"/>
                  </a:cubicBezTo>
                  <a:cubicBezTo>
                    <a:pt x="842010" y="164168"/>
                    <a:pt x="843280" y="165438"/>
                    <a:pt x="842010" y="165438"/>
                  </a:cubicBezTo>
                  <a:cubicBezTo>
                    <a:pt x="840740" y="167978"/>
                    <a:pt x="831850" y="173058"/>
                    <a:pt x="831850" y="173058"/>
                  </a:cubicBezTo>
                  <a:moveTo>
                    <a:pt x="886460" y="228938"/>
                  </a:moveTo>
                  <a:cubicBezTo>
                    <a:pt x="902970" y="227668"/>
                    <a:pt x="904240" y="222588"/>
                    <a:pt x="902970" y="221318"/>
                  </a:cubicBezTo>
                  <a:cubicBezTo>
                    <a:pt x="900430" y="220048"/>
                    <a:pt x="886460" y="228938"/>
                    <a:pt x="886460" y="228938"/>
                  </a:cubicBezTo>
                  <a:moveTo>
                    <a:pt x="975360" y="225128"/>
                  </a:moveTo>
                  <a:cubicBezTo>
                    <a:pt x="995680" y="226398"/>
                    <a:pt x="1000760" y="225128"/>
                    <a:pt x="1000760" y="225128"/>
                  </a:cubicBezTo>
                  <a:cubicBezTo>
                    <a:pt x="1000760" y="225128"/>
                    <a:pt x="1000760" y="225128"/>
                    <a:pt x="1000760" y="223858"/>
                  </a:cubicBezTo>
                  <a:cubicBezTo>
                    <a:pt x="1000760" y="223858"/>
                    <a:pt x="1000760" y="221318"/>
                    <a:pt x="1000760" y="221318"/>
                  </a:cubicBezTo>
                  <a:cubicBezTo>
                    <a:pt x="1000760" y="221318"/>
                    <a:pt x="1000760" y="220048"/>
                    <a:pt x="1000760" y="220048"/>
                  </a:cubicBezTo>
                  <a:cubicBezTo>
                    <a:pt x="999490" y="220048"/>
                    <a:pt x="996950" y="221318"/>
                    <a:pt x="994410" y="221318"/>
                  </a:cubicBezTo>
                  <a:cubicBezTo>
                    <a:pt x="989330" y="222588"/>
                    <a:pt x="975360" y="225128"/>
                    <a:pt x="975360" y="225128"/>
                  </a:cubicBezTo>
                  <a:moveTo>
                    <a:pt x="1040130" y="171788"/>
                  </a:moveTo>
                  <a:cubicBezTo>
                    <a:pt x="1047750" y="181948"/>
                    <a:pt x="1050290" y="181948"/>
                    <a:pt x="1050290" y="180678"/>
                  </a:cubicBezTo>
                  <a:cubicBezTo>
                    <a:pt x="1051560" y="179408"/>
                    <a:pt x="1042670" y="166708"/>
                    <a:pt x="1041400" y="166708"/>
                  </a:cubicBezTo>
                  <a:cubicBezTo>
                    <a:pt x="1040130" y="166708"/>
                    <a:pt x="1040130" y="171788"/>
                    <a:pt x="1040130" y="171788"/>
                  </a:cubicBezTo>
                  <a:moveTo>
                    <a:pt x="1062990" y="85428"/>
                  </a:moveTo>
                  <a:cubicBezTo>
                    <a:pt x="1064260" y="89238"/>
                    <a:pt x="1064260" y="85428"/>
                    <a:pt x="1064260" y="85428"/>
                  </a:cubicBezTo>
                  <a:cubicBezTo>
                    <a:pt x="1064260" y="84158"/>
                    <a:pt x="1062990" y="85428"/>
                    <a:pt x="1062990" y="85428"/>
                  </a:cubicBezTo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Freeform 18" id="18"/>
          <p:cNvSpPr/>
          <p:nvPr/>
        </p:nvSpPr>
        <p:spPr>
          <a:xfrm flipH="false" flipV="false" rot="0">
            <a:off x="12724300" y="313398"/>
            <a:ext cx="2809823" cy="2809823"/>
          </a:xfrm>
          <a:custGeom>
            <a:avLst/>
            <a:gdLst/>
            <a:ahLst/>
            <a:cxnLst/>
            <a:rect r="r" b="b" t="t" l="l"/>
            <a:pathLst>
              <a:path h="2809823" w="2809823">
                <a:moveTo>
                  <a:pt x="0" y="0"/>
                </a:moveTo>
                <a:lnTo>
                  <a:pt x="2809823" y="0"/>
                </a:lnTo>
                <a:lnTo>
                  <a:pt x="2809823" y="2809824"/>
                </a:lnTo>
                <a:lnTo>
                  <a:pt x="0" y="280982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3620867" y="3800678"/>
            <a:ext cx="11046265" cy="12436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200"/>
              </a:lnSpc>
              <a:spcBef>
                <a:spcPct val="0"/>
              </a:spcBef>
            </a:pPr>
            <a:r>
              <a:rPr lang="en-US" b="true" sz="7285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PARKING FINDER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4726692" y="8322945"/>
            <a:ext cx="8834615" cy="621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The most efficient problem for tackling modern problems is using modern solutions. 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387732" y="990600"/>
            <a:ext cx="3512536" cy="727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b="true" sz="21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ATU FINAL YEAR PROJECT</a:t>
            </a:r>
          </a:p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SEAN MALONEY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724300" y="2615768"/>
            <a:ext cx="2809823" cy="412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GITHUB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490910" y="2087176"/>
            <a:ext cx="7768390" cy="7171124"/>
            <a:chOff x="0" y="0"/>
            <a:chExt cx="937097" cy="86504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37097" cy="865049"/>
            </a:xfrm>
            <a:custGeom>
              <a:avLst/>
              <a:gdLst/>
              <a:ahLst/>
              <a:cxnLst/>
              <a:rect r="r" b="b" t="t" l="l"/>
              <a:pathLst>
                <a:path h="865049" w="937097">
                  <a:moveTo>
                    <a:pt x="22922" y="0"/>
                  </a:moveTo>
                  <a:lnTo>
                    <a:pt x="914176" y="0"/>
                  </a:lnTo>
                  <a:cubicBezTo>
                    <a:pt x="926835" y="0"/>
                    <a:pt x="937097" y="10262"/>
                    <a:pt x="937097" y="22922"/>
                  </a:cubicBezTo>
                  <a:lnTo>
                    <a:pt x="937097" y="842128"/>
                  </a:lnTo>
                  <a:cubicBezTo>
                    <a:pt x="937097" y="854787"/>
                    <a:pt x="926835" y="865049"/>
                    <a:pt x="914176" y="865049"/>
                  </a:cubicBezTo>
                  <a:lnTo>
                    <a:pt x="22922" y="865049"/>
                  </a:lnTo>
                  <a:cubicBezTo>
                    <a:pt x="10262" y="865049"/>
                    <a:pt x="0" y="854787"/>
                    <a:pt x="0" y="842128"/>
                  </a:cubicBezTo>
                  <a:lnTo>
                    <a:pt x="0" y="22922"/>
                  </a:lnTo>
                  <a:cubicBezTo>
                    <a:pt x="0" y="10262"/>
                    <a:pt x="10262" y="0"/>
                    <a:pt x="22922" y="0"/>
                  </a:cubicBezTo>
                  <a:close/>
                </a:path>
              </a:pathLst>
            </a:custGeom>
            <a:blipFill>
              <a:blip r:embed="rId2"/>
              <a:stretch>
                <a:fillRect l="-1418" t="0" r="-62691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028700" y="1982401"/>
            <a:ext cx="7901066" cy="1971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59"/>
              </a:lnSpc>
              <a:spcBef>
                <a:spcPct val="0"/>
              </a:spcBef>
            </a:pPr>
            <a:r>
              <a:rPr lang="en-US" b="true" sz="5685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THE PROJECT OVERVIEW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3946031"/>
            <a:ext cx="7901066" cy="5312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08561" indent="-254281" lvl="1">
              <a:lnSpc>
                <a:spcPts val="3297"/>
              </a:lnSpc>
              <a:buFont typeface="Arial"/>
              <a:buChar char="•"/>
            </a:pPr>
            <a:r>
              <a:rPr lang="en-US" sz="2355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Smart parking prototype using AI and computer vision</a:t>
            </a:r>
          </a:p>
          <a:p>
            <a:pPr algn="just">
              <a:lnSpc>
                <a:spcPts val="3297"/>
              </a:lnSpc>
            </a:pPr>
          </a:p>
          <a:p>
            <a:pPr algn="just" marL="508561" indent="-254281" lvl="1">
              <a:lnSpc>
                <a:spcPts val="3297"/>
              </a:lnSpc>
              <a:buFont typeface="Arial"/>
              <a:buChar char="•"/>
            </a:pPr>
            <a:r>
              <a:rPr lang="en-US" sz="2355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Detects vehicles and classifies spaces as free or occupied</a:t>
            </a:r>
          </a:p>
          <a:p>
            <a:pPr algn="just">
              <a:lnSpc>
                <a:spcPts val="3297"/>
              </a:lnSpc>
            </a:pPr>
          </a:p>
          <a:p>
            <a:pPr algn="just" marL="508561" indent="-254281" lvl="1">
              <a:lnSpc>
                <a:spcPts val="3297"/>
              </a:lnSpc>
              <a:buFont typeface="Arial"/>
              <a:buChar char="•"/>
            </a:pPr>
            <a:r>
              <a:rPr lang="en-US" sz="2355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Built with YOLOv8, Raspberry Pi, FastAPI, MongoDB, and Next.js</a:t>
            </a:r>
          </a:p>
          <a:p>
            <a:pPr algn="just">
              <a:lnSpc>
                <a:spcPts val="3297"/>
              </a:lnSpc>
            </a:pPr>
          </a:p>
          <a:p>
            <a:pPr algn="just" marL="508561" indent="-254281" lvl="1">
              <a:lnSpc>
                <a:spcPts val="3297"/>
              </a:lnSpc>
              <a:buFont typeface="Arial"/>
              <a:buChar char="•"/>
            </a:pPr>
            <a:r>
              <a:rPr lang="en-US" sz="2355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Includes parking visualisation and A* route generation</a:t>
            </a:r>
          </a:p>
          <a:p>
            <a:pPr algn="just">
              <a:lnSpc>
                <a:spcPts val="3297"/>
              </a:lnSpc>
            </a:pPr>
          </a:p>
          <a:p>
            <a:pPr algn="just" marL="508561" indent="-254281" lvl="1">
              <a:lnSpc>
                <a:spcPts val="3297"/>
              </a:lnSpc>
              <a:buFont typeface="Arial"/>
              <a:buChar char="•"/>
            </a:pPr>
            <a:r>
              <a:rPr lang="en-US" sz="2355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Designed as a l</a:t>
            </a:r>
            <a:r>
              <a:rPr lang="en-US" sz="2355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ow-cost parking assistance solution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990600"/>
            <a:ext cx="3512536" cy="727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true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ATU FINAL YEAR PROJECT</a:t>
            </a:r>
          </a:p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SEAN MALONEY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5866051" y="990600"/>
            <a:ext cx="1393249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PAGE 02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80759" y="4277677"/>
            <a:ext cx="9224759" cy="4112610"/>
          </a:xfrm>
          <a:custGeom>
            <a:avLst/>
            <a:gdLst/>
            <a:ahLst/>
            <a:cxnLst/>
            <a:rect r="r" b="b" t="t" l="l"/>
            <a:pathLst>
              <a:path h="4112610" w="9224759">
                <a:moveTo>
                  <a:pt x="0" y="0"/>
                </a:moveTo>
                <a:lnTo>
                  <a:pt x="9224759" y="0"/>
                </a:lnTo>
                <a:lnTo>
                  <a:pt x="9224759" y="4112610"/>
                </a:lnTo>
                <a:lnTo>
                  <a:pt x="0" y="411261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1643933"/>
            <a:ext cx="8115300" cy="1934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40"/>
              </a:lnSpc>
            </a:pPr>
            <a:r>
              <a:rPr lang="en-US" sz="5600" b="true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FINAL ARCHITECTURE</a:t>
            </a:r>
          </a:p>
          <a:p>
            <a:pPr algn="l">
              <a:lnSpc>
                <a:spcPts val="7840"/>
              </a:lnSpc>
              <a:spcBef>
                <a:spcPct val="0"/>
              </a:spcBef>
            </a:pPr>
            <a:r>
              <a:rPr lang="en-US" b="true" sz="5600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DIAGRAM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990600"/>
            <a:ext cx="3512536" cy="1099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ATU FINAL YEAR PROJECT</a:t>
            </a:r>
          </a:p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SEAN MALONEY</a:t>
            </a:r>
          </a:p>
          <a:p>
            <a:pPr algn="l">
              <a:lnSpc>
                <a:spcPts val="2940"/>
              </a:lnSpc>
              <a:spcBef>
                <a:spcPct val="0"/>
              </a:spcBef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15866051" y="990600"/>
            <a:ext cx="1393249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PAGE 03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1178211" y="7745638"/>
            <a:ext cx="6081089" cy="1458284"/>
            <a:chOff x="0" y="0"/>
            <a:chExt cx="8108119" cy="1944378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709938"/>
              <a:ext cx="8108119" cy="12344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2520"/>
                </a:lnSpc>
                <a:spcBef>
                  <a:spcPct val="0"/>
                </a:spcBef>
              </a:pPr>
              <a:r>
                <a:rPr lang="en-US" sz="180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A Next.js frontend on a Raspberry Pi LCD touchscreen displays parking status, detections, and route results to the user.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-38100"/>
              <a:ext cx="7333636" cy="4622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40"/>
                </a:lnSpc>
                <a:spcBef>
                  <a:spcPct val="0"/>
                </a:spcBef>
              </a:pPr>
              <a:r>
                <a:rPr lang="en-US" b="true" sz="2100">
                  <a:solidFill>
                    <a:srgbClr val="000000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USER INTERACTION &amp; OUTPUT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1178211" y="5577651"/>
            <a:ext cx="6081089" cy="1508924"/>
            <a:chOff x="0" y="0"/>
            <a:chExt cx="8108119" cy="2011898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777458"/>
              <a:ext cx="8108119" cy="12344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2520"/>
                </a:lnSpc>
                <a:spcBef>
                  <a:spcPct val="0"/>
                </a:spcBef>
              </a:pPr>
              <a:r>
                <a:rPr lang="en-US" sz="180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FastAPI manages the core logic, connecting MongoDB storage, YOLOv8 vehicle detection, and C++ A* pathfinding.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-38100"/>
              <a:ext cx="6062079" cy="4622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40"/>
                </a:lnSpc>
                <a:spcBef>
                  <a:spcPct val="0"/>
                </a:spcBef>
              </a:pPr>
              <a:r>
                <a:rPr lang="en-US" b="true" sz="2100">
                  <a:solidFill>
                    <a:srgbClr val="000000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BACKEND, AI &amp; ROUTING</a:t>
              </a: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9608145" y="6136814"/>
            <a:ext cx="75901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03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608145" y="8304801"/>
            <a:ext cx="75901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04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987650" y="4080510"/>
            <a:ext cx="75901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02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1178211" y="3407763"/>
            <a:ext cx="6081089" cy="1512662"/>
            <a:chOff x="0" y="0"/>
            <a:chExt cx="8108119" cy="2016883"/>
          </a:xfrm>
        </p:grpSpPr>
        <p:sp>
          <p:nvSpPr>
            <p:cNvPr name="TextBox 16" id="16"/>
            <p:cNvSpPr txBox="true"/>
            <p:nvPr/>
          </p:nvSpPr>
          <p:spPr>
            <a:xfrm rot="0">
              <a:off x="0" y="782443"/>
              <a:ext cx="8108119" cy="12344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2520"/>
                </a:lnSpc>
                <a:spcBef>
                  <a:spcPct val="0"/>
                </a:spcBef>
              </a:pPr>
              <a:r>
                <a:rPr lang="en-US" sz="180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A Raspberry Pi camera captures parking images, and the Raspberry Pi 4 uploads them to the backend over Wi-Fi.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0" y="-38100"/>
              <a:ext cx="5290806" cy="4622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40"/>
                </a:lnSpc>
                <a:spcBef>
                  <a:spcPct val="0"/>
                </a:spcBef>
              </a:pPr>
              <a:r>
                <a:rPr lang="en-US" b="true" sz="2100">
                  <a:solidFill>
                    <a:srgbClr val="000000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IMAGE CAPTURE &amp; UPLOAD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9825771" y="1832328"/>
            <a:ext cx="918210" cy="918210"/>
            <a:chOff x="0" y="0"/>
            <a:chExt cx="812800" cy="812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1178211" y="1237876"/>
            <a:ext cx="6081089" cy="1512662"/>
            <a:chOff x="0" y="0"/>
            <a:chExt cx="8108119" cy="2016883"/>
          </a:xfrm>
        </p:grpSpPr>
        <p:sp>
          <p:nvSpPr>
            <p:cNvPr name="TextBox 22" id="22"/>
            <p:cNvSpPr txBox="true"/>
            <p:nvPr/>
          </p:nvSpPr>
          <p:spPr>
            <a:xfrm rot="0">
              <a:off x="0" y="782443"/>
              <a:ext cx="8108119" cy="12344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2520"/>
                </a:lnSpc>
                <a:spcBef>
                  <a:spcPct val="0"/>
                </a:spcBef>
              </a:pPr>
              <a:r>
                <a:rPr lang="en-US" sz="180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Parking Finder is a smart parking system that integrates image capture, AI detection, parking analysis, and route generation.</a:t>
              </a:r>
            </a:p>
          </p:txBody>
        </p:sp>
        <p:sp>
          <p:nvSpPr>
            <p:cNvPr name="TextBox 23" id="23"/>
            <p:cNvSpPr txBox="true"/>
            <p:nvPr/>
          </p:nvSpPr>
          <p:spPr>
            <a:xfrm rot="0">
              <a:off x="0" y="-38100"/>
              <a:ext cx="5290806" cy="4622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40"/>
                </a:lnSpc>
                <a:spcBef>
                  <a:spcPct val="0"/>
                </a:spcBef>
              </a:pPr>
              <a:r>
                <a:rPr lang="en-US" b="true" sz="2100">
                  <a:solidFill>
                    <a:srgbClr val="000000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SYSTEM OVERVIEW</a:t>
              </a: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9905371" y="2094266"/>
            <a:ext cx="75901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01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9825771" y="3861246"/>
            <a:ext cx="918210" cy="918210"/>
            <a:chOff x="0" y="0"/>
            <a:chExt cx="812800" cy="8128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9825771" y="6189156"/>
            <a:ext cx="918210" cy="918210"/>
            <a:chOff x="0" y="0"/>
            <a:chExt cx="812800" cy="8128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TextBox 31" id="31"/>
          <p:cNvSpPr txBox="true"/>
          <p:nvPr/>
        </p:nvSpPr>
        <p:spPr>
          <a:xfrm rot="0">
            <a:off x="9905371" y="4123183"/>
            <a:ext cx="75901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02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9905371" y="6454949"/>
            <a:ext cx="75901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03</a:t>
            </a:r>
          </a:p>
        </p:txBody>
      </p:sp>
      <p:grpSp>
        <p:nvGrpSpPr>
          <p:cNvPr name="Group 33" id="33"/>
          <p:cNvGrpSpPr/>
          <p:nvPr/>
        </p:nvGrpSpPr>
        <p:grpSpPr>
          <a:xfrm rot="0">
            <a:off x="9825771" y="8201931"/>
            <a:ext cx="918210" cy="918210"/>
            <a:chOff x="0" y="0"/>
            <a:chExt cx="812800" cy="8128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35" id="3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TextBox 36" id="36"/>
          <p:cNvSpPr txBox="true"/>
          <p:nvPr/>
        </p:nvSpPr>
        <p:spPr>
          <a:xfrm rot="0">
            <a:off x="9905371" y="8478966"/>
            <a:ext cx="75901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04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24334" y="3795095"/>
            <a:ext cx="8411664" cy="5077773"/>
          </a:xfrm>
          <a:custGeom>
            <a:avLst/>
            <a:gdLst/>
            <a:ahLst/>
            <a:cxnLst/>
            <a:rect r="r" b="b" t="t" l="l"/>
            <a:pathLst>
              <a:path h="5077773" w="8411664">
                <a:moveTo>
                  <a:pt x="0" y="0"/>
                </a:moveTo>
                <a:lnTo>
                  <a:pt x="8411665" y="0"/>
                </a:lnTo>
                <a:lnTo>
                  <a:pt x="8411665" y="5077773"/>
                </a:lnTo>
                <a:lnTo>
                  <a:pt x="0" y="507777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29428" y="1735808"/>
            <a:ext cx="8414572" cy="1934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40"/>
              </a:lnSpc>
              <a:spcBef>
                <a:spcPct val="0"/>
              </a:spcBef>
            </a:pPr>
            <a:r>
              <a:rPr lang="en-US" b="true" sz="5600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WHAT’S NEW SINCE CHRISTMAS DEMO?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990600"/>
            <a:ext cx="3512536" cy="1099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ATU FINAL YEAR PROJECT</a:t>
            </a:r>
          </a:p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SEAN MALONEY</a:t>
            </a:r>
          </a:p>
          <a:p>
            <a:pPr algn="l">
              <a:lnSpc>
                <a:spcPts val="2940"/>
              </a:lnSpc>
              <a:spcBef>
                <a:spcPct val="0"/>
              </a:spcBef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15866051" y="990600"/>
            <a:ext cx="1393249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PAGE 04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1178211" y="7745638"/>
            <a:ext cx="6081089" cy="1458284"/>
            <a:chOff x="0" y="0"/>
            <a:chExt cx="8108119" cy="1944378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709938"/>
              <a:ext cx="8108119" cy="12344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2520"/>
                </a:lnSpc>
                <a:spcBef>
                  <a:spcPct val="0"/>
                </a:spcBef>
              </a:pPr>
              <a:r>
                <a:rPr lang="en-US" sz="180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Redesigned the frontend with an Ookla Speedtest inspired layout and improved overall system integration across hardware, backend, AI, and routing.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-38100"/>
              <a:ext cx="7333636" cy="4622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40"/>
                </a:lnSpc>
                <a:spcBef>
                  <a:spcPct val="0"/>
                </a:spcBef>
              </a:pPr>
              <a:r>
                <a:rPr lang="en-US" b="true" sz="2100">
                  <a:solidFill>
                    <a:srgbClr val="000000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FRONTEND &amp; SYSTEM IMPROVEMENTS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1178211" y="5577651"/>
            <a:ext cx="6081089" cy="1508924"/>
            <a:chOff x="0" y="0"/>
            <a:chExt cx="8108119" cy="2011898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777458"/>
              <a:ext cx="8108119" cy="12344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2520"/>
                </a:lnSpc>
                <a:spcBef>
                  <a:spcPct val="0"/>
                </a:spcBef>
              </a:pPr>
              <a:r>
                <a:rPr lang="en-US" sz="180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Added parking polygon configuration, occupancy classification, and C++ A* pathfinding to generate routes to available spaces.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-38100"/>
              <a:ext cx="6062079" cy="4622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40"/>
                </a:lnSpc>
                <a:spcBef>
                  <a:spcPct val="0"/>
                </a:spcBef>
              </a:pPr>
              <a:r>
                <a:rPr lang="en-US" b="true" sz="2100">
                  <a:solidFill>
                    <a:srgbClr val="000000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PARKING ANALYSIS &amp; ROUTING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1178211" y="3407763"/>
            <a:ext cx="6081089" cy="1198337"/>
            <a:chOff x="0" y="0"/>
            <a:chExt cx="8108119" cy="1597783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0" y="782443"/>
              <a:ext cx="8108119" cy="8153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2520"/>
                </a:lnSpc>
                <a:spcBef>
                  <a:spcPct val="0"/>
                </a:spcBef>
              </a:pPr>
              <a:r>
                <a:rPr lang="en-US" sz="180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Integrated MongoDB for persistent storage of parking configurations, metadata, and capture data.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-38100"/>
              <a:ext cx="5290806" cy="4622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40"/>
                </a:lnSpc>
                <a:spcBef>
                  <a:spcPct val="0"/>
                </a:spcBef>
              </a:pPr>
              <a:r>
                <a:rPr lang="en-US" b="true" sz="2100">
                  <a:solidFill>
                    <a:srgbClr val="000000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DATABASE &amp; STORAGE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1178211" y="1237876"/>
            <a:ext cx="6081089" cy="1198337"/>
            <a:chOff x="0" y="0"/>
            <a:chExt cx="8108119" cy="1597783"/>
          </a:xfrm>
        </p:grpSpPr>
        <p:sp>
          <p:nvSpPr>
            <p:cNvPr name="TextBox 16" id="16"/>
            <p:cNvSpPr txBox="true"/>
            <p:nvPr/>
          </p:nvSpPr>
          <p:spPr>
            <a:xfrm rot="0">
              <a:off x="0" y="782443"/>
              <a:ext cx="8108119" cy="8153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2520"/>
                </a:lnSpc>
                <a:spcBef>
                  <a:spcPct val="0"/>
                </a:spcBef>
              </a:pPr>
              <a:r>
                <a:rPr lang="en-US" sz="180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Added Raspberry Pi camera capture, Raspberry Pi 4 upload flow, and LCD touchscreen support.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0" y="-38100"/>
              <a:ext cx="5290806" cy="4622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40"/>
                </a:lnSpc>
                <a:spcBef>
                  <a:spcPct val="0"/>
                </a:spcBef>
              </a:pPr>
              <a:r>
                <a:rPr lang="en-US" b="true" sz="2100">
                  <a:solidFill>
                    <a:srgbClr val="000000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PI INTEGRATION</a:t>
              </a: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9608145" y="6136814"/>
            <a:ext cx="75901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03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608145" y="8304801"/>
            <a:ext cx="75901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04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987650" y="4080510"/>
            <a:ext cx="75901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02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9828450" y="1393318"/>
            <a:ext cx="918210" cy="918210"/>
            <a:chOff x="0" y="0"/>
            <a:chExt cx="812800" cy="812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9908050" y="1655256"/>
            <a:ext cx="75901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01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9825771" y="3702178"/>
            <a:ext cx="918210" cy="918210"/>
            <a:chOff x="0" y="0"/>
            <a:chExt cx="812800" cy="8128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9825771" y="5873008"/>
            <a:ext cx="918210" cy="918210"/>
            <a:chOff x="0" y="0"/>
            <a:chExt cx="812800" cy="8128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TextBox 31" id="31"/>
          <p:cNvSpPr txBox="true"/>
          <p:nvPr/>
        </p:nvSpPr>
        <p:spPr>
          <a:xfrm rot="0">
            <a:off x="9905371" y="3964116"/>
            <a:ext cx="75901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02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9908050" y="6136814"/>
            <a:ext cx="75901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03</a:t>
            </a:r>
          </a:p>
        </p:txBody>
      </p:sp>
      <p:grpSp>
        <p:nvGrpSpPr>
          <p:cNvPr name="Group 33" id="33"/>
          <p:cNvGrpSpPr/>
          <p:nvPr/>
        </p:nvGrpSpPr>
        <p:grpSpPr>
          <a:xfrm rot="0">
            <a:off x="9825771" y="8042864"/>
            <a:ext cx="918210" cy="918210"/>
            <a:chOff x="0" y="0"/>
            <a:chExt cx="812800" cy="8128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35" id="3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TextBox 36" id="36"/>
          <p:cNvSpPr txBox="true"/>
          <p:nvPr/>
        </p:nvSpPr>
        <p:spPr>
          <a:xfrm rot="0">
            <a:off x="9905371" y="8305693"/>
            <a:ext cx="75901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51240" y="4887819"/>
            <a:ext cx="3969352" cy="2035245"/>
            <a:chOff x="0" y="0"/>
            <a:chExt cx="478821" cy="24551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78821" cy="245511"/>
            </a:xfrm>
            <a:custGeom>
              <a:avLst/>
              <a:gdLst/>
              <a:ahLst/>
              <a:cxnLst/>
              <a:rect r="r" b="b" t="t" l="l"/>
              <a:pathLst>
                <a:path h="245511" w="478821">
                  <a:moveTo>
                    <a:pt x="58513" y="0"/>
                  </a:moveTo>
                  <a:lnTo>
                    <a:pt x="420308" y="0"/>
                  </a:lnTo>
                  <a:cubicBezTo>
                    <a:pt x="452624" y="0"/>
                    <a:pt x="478821" y="26197"/>
                    <a:pt x="478821" y="58513"/>
                  </a:cubicBezTo>
                  <a:lnTo>
                    <a:pt x="478821" y="186998"/>
                  </a:lnTo>
                  <a:cubicBezTo>
                    <a:pt x="478821" y="202516"/>
                    <a:pt x="472656" y="217399"/>
                    <a:pt x="461683" y="228373"/>
                  </a:cubicBezTo>
                  <a:cubicBezTo>
                    <a:pt x="450710" y="239346"/>
                    <a:pt x="435827" y="245511"/>
                    <a:pt x="420308" y="245511"/>
                  </a:cubicBezTo>
                  <a:lnTo>
                    <a:pt x="58513" y="245511"/>
                  </a:lnTo>
                  <a:cubicBezTo>
                    <a:pt x="42994" y="245511"/>
                    <a:pt x="28111" y="239346"/>
                    <a:pt x="17138" y="228373"/>
                  </a:cubicBezTo>
                  <a:cubicBezTo>
                    <a:pt x="6165" y="217399"/>
                    <a:pt x="0" y="202516"/>
                    <a:pt x="0" y="186998"/>
                  </a:cubicBezTo>
                  <a:lnTo>
                    <a:pt x="0" y="58513"/>
                  </a:lnTo>
                  <a:cubicBezTo>
                    <a:pt x="0" y="42994"/>
                    <a:pt x="6165" y="28111"/>
                    <a:pt x="17138" y="17138"/>
                  </a:cubicBezTo>
                  <a:cubicBezTo>
                    <a:pt x="28111" y="6165"/>
                    <a:pt x="42994" y="0"/>
                    <a:pt x="58513" y="0"/>
                  </a:cubicBezTo>
                  <a:close/>
                </a:path>
              </a:pathLst>
            </a:custGeom>
            <a:blipFill>
              <a:blip r:embed="rId2"/>
              <a:stretch>
                <a:fillRect l="-1969" t="0" r="-56535" b="-115619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5020592" y="4887819"/>
            <a:ext cx="3969352" cy="2035245"/>
            <a:chOff x="0" y="0"/>
            <a:chExt cx="478821" cy="245511"/>
          </a:xfrm>
        </p:grpSpPr>
        <p:sp>
          <p:nvSpPr>
            <p:cNvPr name="Freeform 5" id="5"/>
            <p:cNvSpPr/>
            <p:nvPr/>
          </p:nvSpPr>
          <p:spPr>
            <a:xfrm flipH="false" flipV="false" rot="6000">
              <a:off x="-112" y="-316"/>
              <a:ext cx="479045" cy="246142"/>
            </a:xfrm>
            <a:custGeom>
              <a:avLst/>
              <a:gdLst/>
              <a:ahLst/>
              <a:cxnLst/>
              <a:rect r="r" b="b" t="t" l="l"/>
              <a:pathLst>
                <a:path h="246142" w="479045">
                  <a:moveTo>
                    <a:pt x="58411" y="632"/>
                  </a:moveTo>
                  <a:lnTo>
                    <a:pt x="420206" y="0"/>
                  </a:lnTo>
                  <a:cubicBezTo>
                    <a:pt x="452521" y="-56"/>
                    <a:pt x="478764" y="26095"/>
                    <a:pt x="478821" y="58411"/>
                  </a:cubicBezTo>
                  <a:lnTo>
                    <a:pt x="479045" y="186896"/>
                  </a:lnTo>
                  <a:cubicBezTo>
                    <a:pt x="479072" y="202414"/>
                    <a:pt x="472933" y="217308"/>
                    <a:pt x="461979" y="228301"/>
                  </a:cubicBezTo>
                  <a:cubicBezTo>
                    <a:pt x="451025" y="239293"/>
                    <a:pt x="436153" y="245484"/>
                    <a:pt x="420634" y="245511"/>
                  </a:cubicBezTo>
                  <a:lnTo>
                    <a:pt x="58839" y="246142"/>
                  </a:lnTo>
                  <a:cubicBezTo>
                    <a:pt x="43321" y="246169"/>
                    <a:pt x="28427" y="240031"/>
                    <a:pt x="17435" y="229076"/>
                  </a:cubicBezTo>
                  <a:cubicBezTo>
                    <a:pt x="6442" y="218122"/>
                    <a:pt x="252" y="203250"/>
                    <a:pt x="224" y="187732"/>
                  </a:cubicBezTo>
                  <a:lnTo>
                    <a:pt x="0" y="59247"/>
                  </a:lnTo>
                  <a:cubicBezTo>
                    <a:pt x="-27" y="43728"/>
                    <a:pt x="6112" y="28834"/>
                    <a:pt x="17066" y="17842"/>
                  </a:cubicBezTo>
                  <a:cubicBezTo>
                    <a:pt x="28020" y="6850"/>
                    <a:pt x="42892" y="659"/>
                    <a:pt x="58411" y="632"/>
                  </a:cubicBezTo>
                  <a:close/>
                </a:path>
              </a:pathLst>
            </a:custGeom>
            <a:blipFill>
              <a:blip r:embed="rId3"/>
              <a:stretch>
                <a:fillRect l="-21" t="-40336" r="-39061" b="-50255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051240" y="2842143"/>
            <a:ext cx="7938704" cy="2045676"/>
            <a:chOff x="0" y="0"/>
            <a:chExt cx="957642" cy="24676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57642" cy="246769"/>
            </a:xfrm>
            <a:custGeom>
              <a:avLst/>
              <a:gdLst/>
              <a:ahLst/>
              <a:cxnLst/>
              <a:rect r="r" b="b" t="t" l="l"/>
              <a:pathLst>
                <a:path h="246769" w="957642">
                  <a:moveTo>
                    <a:pt x="29256" y="0"/>
                  </a:moveTo>
                  <a:lnTo>
                    <a:pt x="928386" y="0"/>
                  </a:lnTo>
                  <a:cubicBezTo>
                    <a:pt x="936145" y="0"/>
                    <a:pt x="943586" y="3082"/>
                    <a:pt x="949073" y="8569"/>
                  </a:cubicBezTo>
                  <a:cubicBezTo>
                    <a:pt x="954560" y="14056"/>
                    <a:pt x="957642" y="21497"/>
                    <a:pt x="957642" y="29256"/>
                  </a:cubicBezTo>
                  <a:lnTo>
                    <a:pt x="957642" y="217513"/>
                  </a:lnTo>
                  <a:cubicBezTo>
                    <a:pt x="957642" y="233670"/>
                    <a:pt x="944544" y="246769"/>
                    <a:pt x="928386" y="246769"/>
                  </a:cubicBezTo>
                  <a:lnTo>
                    <a:pt x="29256" y="246769"/>
                  </a:lnTo>
                  <a:cubicBezTo>
                    <a:pt x="21497" y="246769"/>
                    <a:pt x="14056" y="243687"/>
                    <a:pt x="8569" y="238200"/>
                  </a:cubicBezTo>
                  <a:cubicBezTo>
                    <a:pt x="3082" y="232713"/>
                    <a:pt x="0" y="225272"/>
                    <a:pt x="0" y="217513"/>
                  </a:cubicBezTo>
                  <a:lnTo>
                    <a:pt x="0" y="29256"/>
                  </a:lnTo>
                  <a:cubicBezTo>
                    <a:pt x="0" y="21497"/>
                    <a:pt x="3082" y="14056"/>
                    <a:pt x="8569" y="8569"/>
                  </a:cubicBezTo>
                  <a:cubicBezTo>
                    <a:pt x="14056" y="3082"/>
                    <a:pt x="21497" y="0"/>
                    <a:pt x="29256" y="0"/>
                  </a:cubicBezTo>
                  <a:close/>
                </a:path>
              </a:pathLst>
            </a:custGeom>
            <a:blipFill>
              <a:blip r:embed="rId4"/>
              <a:stretch>
                <a:fillRect l="0" t="-5057" r="0" b="-5057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051240" y="6923064"/>
            <a:ext cx="3969352" cy="2035245"/>
            <a:chOff x="0" y="0"/>
            <a:chExt cx="478821" cy="24551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78821" cy="245511"/>
            </a:xfrm>
            <a:custGeom>
              <a:avLst/>
              <a:gdLst/>
              <a:ahLst/>
              <a:cxnLst/>
              <a:rect r="r" b="b" t="t" l="l"/>
              <a:pathLst>
                <a:path h="245511" w="478821">
                  <a:moveTo>
                    <a:pt x="58513" y="0"/>
                  </a:moveTo>
                  <a:lnTo>
                    <a:pt x="420308" y="0"/>
                  </a:lnTo>
                  <a:cubicBezTo>
                    <a:pt x="452624" y="0"/>
                    <a:pt x="478821" y="26197"/>
                    <a:pt x="478821" y="58513"/>
                  </a:cubicBezTo>
                  <a:lnTo>
                    <a:pt x="478821" y="186998"/>
                  </a:lnTo>
                  <a:cubicBezTo>
                    <a:pt x="478821" y="202516"/>
                    <a:pt x="472656" y="217399"/>
                    <a:pt x="461683" y="228373"/>
                  </a:cubicBezTo>
                  <a:cubicBezTo>
                    <a:pt x="450710" y="239346"/>
                    <a:pt x="435827" y="245511"/>
                    <a:pt x="420308" y="245511"/>
                  </a:cubicBezTo>
                  <a:lnTo>
                    <a:pt x="58513" y="245511"/>
                  </a:lnTo>
                  <a:cubicBezTo>
                    <a:pt x="42994" y="245511"/>
                    <a:pt x="28111" y="239346"/>
                    <a:pt x="17138" y="228373"/>
                  </a:cubicBezTo>
                  <a:cubicBezTo>
                    <a:pt x="6165" y="217399"/>
                    <a:pt x="0" y="202516"/>
                    <a:pt x="0" y="186998"/>
                  </a:cubicBezTo>
                  <a:lnTo>
                    <a:pt x="0" y="58513"/>
                  </a:lnTo>
                  <a:cubicBezTo>
                    <a:pt x="0" y="42994"/>
                    <a:pt x="6165" y="28111"/>
                    <a:pt x="17138" y="17138"/>
                  </a:cubicBezTo>
                  <a:cubicBezTo>
                    <a:pt x="28111" y="6165"/>
                    <a:pt x="42994" y="0"/>
                    <a:pt x="58513" y="0"/>
                  </a:cubicBezTo>
                  <a:close/>
                </a:path>
              </a:pathLst>
            </a:custGeom>
            <a:blipFill>
              <a:blip r:embed="rId5"/>
              <a:stretch>
                <a:fillRect l="0" t="-14028" r="0" b="-14028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5020592" y="6923064"/>
            <a:ext cx="3969352" cy="2035245"/>
            <a:chOff x="0" y="0"/>
            <a:chExt cx="478821" cy="24551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78821" cy="245511"/>
            </a:xfrm>
            <a:custGeom>
              <a:avLst/>
              <a:gdLst/>
              <a:ahLst/>
              <a:cxnLst/>
              <a:rect r="r" b="b" t="t" l="l"/>
              <a:pathLst>
                <a:path h="245511" w="478821">
                  <a:moveTo>
                    <a:pt x="58513" y="0"/>
                  </a:moveTo>
                  <a:lnTo>
                    <a:pt x="420308" y="0"/>
                  </a:lnTo>
                  <a:cubicBezTo>
                    <a:pt x="452624" y="0"/>
                    <a:pt x="478821" y="26197"/>
                    <a:pt x="478821" y="58513"/>
                  </a:cubicBezTo>
                  <a:lnTo>
                    <a:pt x="478821" y="186998"/>
                  </a:lnTo>
                  <a:cubicBezTo>
                    <a:pt x="478821" y="202516"/>
                    <a:pt x="472656" y="217399"/>
                    <a:pt x="461683" y="228373"/>
                  </a:cubicBezTo>
                  <a:cubicBezTo>
                    <a:pt x="450710" y="239346"/>
                    <a:pt x="435827" y="245511"/>
                    <a:pt x="420308" y="245511"/>
                  </a:cubicBezTo>
                  <a:lnTo>
                    <a:pt x="58513" y="245511"/>
                  </a:lnTo>
                  <a:cubicBezTo>
                    <a:pt x="42994" y="245511"/>
                    <a:pt x="28111" y="239346"/>
                    <a:pt x="17138" y="228373"/>
                  </a:cubicBezTo>
                  <a:cubicBezTo>
                    <a:pt x="6165" y="217399"/>
                    <a:pt x="0" y="202516"/>
                    <a:pt x="0" y="186998"/>
                  </a:cubicBezTo>
                  <a:lnTo>
                    <a:pt x="0" y="58513"/>
                  </a:lnTo>
                  <a:cubicBezTo>
                    <a:pt x="0" y="42994"/>
                    <a:pt x="6165" y="28111"/>
                    <a:pt x="17138" y="17138"/>
                  </a:cubicBezTo>
                  <a:cubicBezTo>
                    <a:pt x="28111" y="6165"/>
                    <a:pt x="42994" y="0"/>
                    <a:pt x="58513" y="0"/>
                  </a:cubicBezTo>
                  <a:close/>
                </a:path>
              </a:pathLst>
            </a:custGeom>
            <a:blipFill>
              <a:blip r:embed="rId6"/>
              <a:stretch>
                <a:fillRect l="-61572" t="0" r="-185246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0134645" y="2651008"/>
            <a:ext cx="918210" cy="918210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0134645" y="4548048"/>
            <a:ext cx="918210" cy="918210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0134645" y="6323911"/>
            <a:ext cx="918210" cy="918210"/>
            <a:chOff x="0" y="0"/>
            <a:chExt cx="812800" cy="812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0134645" y="8099774"/>
            <a:ext cx="918210" cy="918210"/>
            <a:chOff x="0" y="0"/>
            <a:chExt cx="812800" cy="812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1028700" y="2054790"/>
            <a:ext cx="7961244" cy="6464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20"/>
              </a:lnSpc>
              <a:spcBef>
                <a:spcPct val="0"/>
              </a:spcBef>
            </a:pPr>
            <a:r>
              <a:rPr lang="en-US" b="true" sz="3800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CHALLANGES AND SOLLUTIONS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028700" y="990600"/>
            <a:ext cx="3512536" cy="1099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ATU FINAL YEAR PROJECT</a:t>
            </a:r>
          </a:p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SEAN MALONEY</a:t>
            </a:r>
          </a:p>
          <a:p>
            <a:pPr algn="l">
              <a:lnSpc>
                <a:spcPts val="2940"/>
              </a:lnSpc>
              <a:spcBef>
                <a:spcPct val="0"/>
              </a:spcBef>
            </a:pPr>
          </a:p>
        </p:txBody>
      </p:sp>
      <p:sp>
        <p:nvSpPr>
          <p:cNvPr name="TextBox 26" id="26"/>
          <p:cNvSpPr txBox="true"/>
          <p:nvPr/>
        </p:nvSpPr>
        <p:spPr>
          <a:xfrm rot="0">
            <a:off x="15866051" y="990600"/>
            <a:ext cx="1393249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PAGE 05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1534003" y="2364940"/>
            <a:ext cx="5725297" cy="14617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380"/>
              </a:lnSpc>
            </a:pPr>
            <a:r>
              <a:rPr lang="en-US" sz="17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Challenge: Training was initially on CPU instead of GPU due to CUDA, PyTorch, and driver version mismatches.</a:t>
            </a:r>
          </a:p>
          <a:p>
            <a:pPr algn="just">
              <a:lnSpc>
                <a:spcPts val="2380"/>
              </a:lnSpc>
            </a:pPr>
            <a:r>
              <a:rPr lang="en-US" sz="17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</a:p>
          <a:p>
            <a:pPr algn="just">
              <a:lnSpc>
                <a:spcPts val="2380"/>
              </a:lnSpc>
              <a:spcBef>
                <a:spcPct val="0"/>
              </a:spcBef>
            </a:pPr>
            <a:r>
              <a:rPr lang="en-US" sz="17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Solution: Researched CUDA compatibility matrices, aligned software versions to successfully enable GPU.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1534003" y="2047711"/>
            <a:ext cx="5156281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GPU TRAINING &amp; CUDA COMPATIBILITY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1534003" y="4261980"/>
            <a:ext cx="5725297" cy="14617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380"/>
              </a:lnSpc>
            </a:pPr>
            <a:r>
              <a:rPr lang="en-US" sz="17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Challenge: The original drone based idea was not practical for a realistic parking deployment.</a:t>
            </a:r>
          </a:p>
          <a:p>
            <a:pPr algn="just">
              <a:lnSpc>
                <a:spcPts val="2380"/>
              </a:lnSpc>
            </a:pPr>
          </a:p>
          <a:p>
            <a:pPr algn="just">
              <a:lnSpc>
                <a:spcPts val="2380"/>
              </a:lnSpc>
              <a:spcBef>
                <a:spcPct val="0"/>
              </a:spcBef>
            </a:pPr>
            <a:r>
              <a:rPr lang="en-US" sz="17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Solution: Redesigned around a fixed elevated camera for a more practical and reliable solution.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1534003" y="3934320"/>
            <a:ext cx="6017428" cy="727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true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CAMERA APPROACH &amp; SYSTEM DIRECTRION</a:t>
            </a:r>
          </a:p>
          <a:p>
            <a:pPr algn="l">
              <a:lnSpc>
                <a:spcPts val="2940"/>
              </a:lnSpc>
              <a:spcBef>
                <a:spcPct val="0"/>
              </a:spcBef>
            </a:pPr>
          </a:p>
        </p:txBody>
      </p:sp>
      <p:sp>
        <p:nvSpPr>
          <p:cNvPr name="TextBox 31" id="31"/>
          <p:cNvSpPr txBox="true"/>
          <p:nvPr/>
        </p:nvSpPr>
        <p:spPr>
          <a:xfrm rot="0">
            <a:off x="11534003" y="6148589"/>
            <a:ext cx="5725297" cy="14617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380"/>
              </a:lnSpc>
            </a:pPr>
            <a:r>
              <a:rPr lang="en-US" sz="17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Challenge: Vehicle detection alone could not identify free spaces.</a:t>
            </a:r>
          </a:p>
          <a:p>
            <a:pPr algn="just">
              <a:lnSpc>
                <a:spcPts val="2380"/>
              </a:lnSpc>
            </a:pPr>
          </a:p>
          <a:p>
            <a:pPr algn="just">
              <a:lnSpc>
                <a:spcPts val="2380"/>
              </a:lnSpc>
              <a:spcBef>
                <a:spcPct val="0"/>
              </a:spcBef>
            </a:pPr>
            <a:r>
              <a:rPr lang="en-US" sz="17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Solution: Parking polygons were added for space classification.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1534003" y="5820929"/>
            <a:ext cx="5725297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OCCUPANCY CLASSIFICATION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1534003" y="8035198"/>
            <a:ext cx="5725297" cy="11664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380"/>
              </a:lnSpc>
            </a:pPr>
            <a:r>
              <a:rPr lang="en-US" sz="17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Challenge: Route generation depended on accurate grid mapping.</a:t>
            </a:r>
          </a:p>
          <a:p>
            <a:pPr algn="just">
              <a:lnSpc>
                <a:spcPts val="2380"/>
              </a:lnSpc>
            </a:pPr>
          </a:p>
          <a:p>
            <a:pPr algn="just">
              <a:lnSpc>
                <a:spcPts val="2380"/>
              </a:lnSpc>
              <a:spcBef>
                <a:spcPct val="0"/>
              </a:spcBef>
            </a:pPr>
            <a:r>
              <a:rPr lang="en-US" sz="17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Solution: A C++ A* system was integrated for routing.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1534003" y="7707538"/>
            <a:ext cx="5725297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PATHFINDING &amp; GRID SETUP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0214245" y="2912945"/>
            <a:ext cx="75901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01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0214245" y="4809985"/>
            <a:ext cx="75901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02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0214245" y="6585848"/>
            <a:ext cx="75901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03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0214245" y="8361711"/>
            <a:ext cx="75901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04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223729" y="2087176"/>
            <a:ext cx="8864168" cy="4726983"/>
            <a:chOff x="0" y="0"/>
            <a:chExt cx="1069280" cy="57021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69280" cy="570214"/>
            </a:xfrm>
            <a:custGeom>
              <a:avLst/>
              <a:gdLst/>
              <a:ahLst/>
              <a:cxnLst/>
              <a:rect r="r" b="b" t="t" l="l"/>
              <a:pathLst>
                <a:path h="570214" w="1069280">
                  <a:moveTo>
                    <a:pt x="20088" y="0"/>
                  </a:moveTo>
                  <a:lnTo>
                    <a:pt x="1049192" y="0"/>
                  </a:lnTo>
                  <a:cubicBezTo>
                    <a:pt x="1054520" y="0"/>
                    <a:pt x="1059630" y="2116"/>
                    <a:pt x="1063397" y="5884"/>
                  </a:cubicBezTo>
                  <a:cubicBezTo>
                    <a:pt x="1067164" y="9651"/>
                    <a:pt x="1069280" y="14760"/>
                    <a:pt x="1069280" y="20088"/>
                  </a:cubicBezTo>
                  <a:lnTo>
                    <a:pt x="1069280" y="550126"/>
                  </a:lnTo>
                  <a:cubicBezTo>
                    <a:pt x="1069280" y="561220"/>
                    <a:pt x="1060287" y="570214"/>
                    <a:pt x="1049192" y="570214"/>
                  </a:cubicBezTo>
                  <a:lnTo>
                    <a:pt x="20088" y="570214"/>
                  </a:lnTo>
                  <a:cubicBezTo>
                    <a:pt x="14760" y="570214"/>
                    <a:pt x="9651" y="568097"/>
                    <a:pt x="5884" y="564330"/>
                  </a:cubicBezTo>
                  <a:cubicBezTo>
                    <a:pt x="2116" y="560563"/>
                    <a:pt x="0" y="555453"/>
                    <a:pt x="0" y="550126"/>
                  </a:cubicBezTo>
                  <a:lnTo>
                    <a:pt x="0" y="20088"/>
                  </a:lnTo>
                  <a:cubicBezTo>
                    <a:pt x="0" y="14760"/>
                    <a:pt x="2116" y="9651"/>
                    <a:pt x="5884" y="5884"/>
                  </a:cubicBezTo>
                  <a:cubicBezTo>
                    <a:pt x="9651" y="2116"/>
                    <a:pt x="14760" y="0"/>
                    <a:pt x="20088" y="0"/>
                  </a:cubicBezTo>
                  <a:close/>
                </a:path>
              </a:pathLst>
            </a:custGeom>
            <a:blipFill>
              <a:blip r:embed="rId2"/>
              <a:stretch>
                <a:fillRect l="-8762" t="0" r="-8762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68835" y="2087176"/>
            <a:ext cx="8895435" cy="4726983"/>
            <a:chOff x="0" y="0"/>
            <a:chExt cx="1073052" cy="57021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73052" cy="570214"/>
            </a:xfrm>
            <a:custGeom>
              <a:avLst/>
              <a:gdLst/>
              <a:ahLst/>
              <a:cxnLst/>
              <a:rect r="r" b="b" t="t" l="l"/>
              <a:pathLst>
                <a:path h="570214" w="1073052">
                  <a:moveTo>
                    <a:pt x="20017" y="0"/>
                  </a:moveTo>
                  <a:lnTo>
                    <a:pt x="1053035" y="0"/>
                  </a:lnTo>
                  <a:cubicBezTo>
                    <a:pt x="1064090" y="0"/>
                    <a:pt x="1073052" y="8962"/>
                    <a:pt x="1073052" y="20017"/>
                  </a:cubicBezTo>
                  <a:lnTo>
                    <a:pt x="1073052" y="550196"/>
                  </a:lnTo>
                  <a:cubicBezTo>
                    <a:pt x="1073052" y="561252"/>
                    <a:pt x="1064090" y="570214"/>
                    <a:pt x="1053035" y="570214"/>
                  </a:cubicBezTo>
                  <a:lnTo>
                    <a:pt x="20017" y="570214"/>
                  </a:lnTo>
                  <a:cubicBezTo>
                    <a:pt x="8962" y="570214"/>
                    <a:pt x="0" y="561252"/>
                    <a:pt x="0" y="550196"/>
                  </a:cubicBezTo>
                  <a:lnTo>
                    <a:pt x="0" y="20017"/>
                  </a:lnTo>
                  <a:cubicBezTo>
                    <a:pt x="0" y="8962"/>
                    <a:pt x="8962" y="0"/>
                    <a:pt x="20017" y="0"/>
                  </a:cubicBezTo>
                  <a:close/>
                </a:path>
              </a:pathLst>
            </a:custGeom>
            <a:blipFill>
              <a:blip r:embed="rId3"/>
              <a:stretch>
                <a:fillRect l="-18559" t="0" r="-18559" b="0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1028700" y="7819390"/>
            <a:ext cx="6676660" cy="943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40"/>
              </a:lnSpc>
              <a:spcBef>
                <a:spcPct val="0"/>
              </a:spcBef>
            </a:pPr>
            <a:r>
              <a:rPr lang="en-US" b="true" sz="5600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RESEARCH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139614" y="6988955"/>
            <a:ext cx="14271941" cy="3013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15276" indent="-307638" lvl="1">
              <a:lnSpc>
                <a:spcPts val="3989"/>
              </a:lnSpc>
              <a:buFont typeface="Arial"/>
              <a:buChar char="•"/>
            </a:pPr>
            <a:r>
              <a:rPr lang="en-US" sz="284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</a:t>
            </a:r>
            <a:r>
              <a:rPr lang="en-US" sz="284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arking space configuration</a:t>
            </a:r>
          </a:p>
          <a:p>
            <a:pPr algn="l" marL="615276" indent="-307638" lvl="1">
              <a:lnSpc>
                <a:spcPts val="3989"/>
              </a:lnSpc>
              <a:buFont typeface="Arial"/>
              <a:buChar char="•"/>
            </a:pPr>
            <a:r>
              <a:rPr lang="en-US" sz="284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Occup</a:t>
            </a:r>
            <a:r>
              <a:rPr lang="en-US" sz="284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ied vs free space detection</a:t>
            </a:r>
          </a:p>
          <a:p>
            <a:pPr algn="l" marL="615276" indent="-307638" lvl="1">
              <a:lnSpc>
                <a:spcPts val="3989"/>
              </a:lnSpc>
              <a:buFont typeface="Arial"/>
              <a:buChar char="•"/>
            </a:pPr>
            <a:r>
              <a:rPr lang="en-US" sz="284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A* route generation</a:t>
            </a:r>
          </a:p>
          <a:p>
            <a:pPr algn="l" marL="615276" indent="-307638" lvl="1">
              <a:lnSpc>
                <a:spcPts val="3989"/>
              </a:lnSpc>
              <a:buFont typeface="Arial"/>
              <a:buChar char="•"/>
            </a:pPr>
            <a:r>
              <a:rPr lang="en-US" sz="284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Grid layout mapping</a:t>
            </a:r>
          </a:p>
          <a:p>
            <a:pPr algn="l" marL="615276" indent="-307638" lvl="1">
              <a:lnSpc>
                <a:spcPts val="3989"/>
              </a:lnSpc>
              <a:buFont typeface="Arial"/>
              <a:buChar char="•"/>
            </a:pPr>
            <a:r>
              <a:rPr lang="en-US" sz="284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Mo</a:t>
            </a:r>
            <a:r>
              <a:rPr lang="en-US" sz="284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ngoDB data storage</a:t>
            </a:r>
          </a:p>
          <a:p>
            <a:pPr algn="l" marL="615276" indent="-307638" lvl="1">
              <a:lnSpc>
                <a:spcPts val="3989"/>
              </a:lnSpc>
              <a:buFont typeface="Arial"/>
              <a:buChar char="•"/>
            </a:pPr>
            <a:r>
              <a:rPr lang="en-US" sz="284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Raspberry Pi integration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990600"/>
            <a:ext cx="3512536" cy="1099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ATU FINAL YEAR PROJECT</a:t>
            </a:r>
          </a:p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SEAN MALONEY</a:t>
            </a:r>
          </a:p>
          <a:p>
            <a:pPr algn="l">
              <a:lnSpc>
                <a:spcPts val="2940"/>
              </a:lnSpc>
              <a:spcBef>
                <a:spcPct val="0"/>
              </a:spcBef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15866051" y="990600"/>
            <a:ext cx="1393249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PAGE 06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073828" y="145696"/>
            <a:ext cx="7185472" cy="4054933"/>
            <a:chOff x="0" y="0"/>
            <a:chExt cx="969327" cy="54701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69327" cy="547014"/>
            </a:xfrm>
            <a:custGeom>
              <a:avLst/>
              <a:gdLst/>
              <a:ahLst/>
              <a:cxnLst/>
              <a:rect r="r" b="b" t="t" l="l"/>
              <a:pathLst>
                <a:path h="547014" w="969327">
                  <a:moveTo>
                    <a:pt x="24781" y="0"/>
                  </a:moveTo>
                  <a:lnTo>
                    <a:pt x="944546" y="0"/>
                  </a:lnTo>
                  <a:cubicBezTo>
                    <a:pt x="951118" y="0"/>
                    <a:pt x="957422" y="2611"/>
                    <a:pt x="962069" y="7258"/>
                  </a:cubicBezTo>
                  <a:cubicBezTo>
                    <a:pt x="966716" y="11906"/>
                    <a:pt x="969327" y="18209"/>
                    <a:pt x="969327" y="24781"/>
                  </a:cubicBezTo>
                  <a:lnTo>
                    <a:pt x="969327" y="522233"/>
                  </a:lnTo>
                  <a:cubicBezTo>
                    <a:pt x="969327" y="528806"/>
                    <a:pt x="966716" y="535109"/>
                    <a:pt x="962069" y="539756"/>
                  </a:cubicBezTo>
                  <a:cubicBezTo>
                    <a:pt x="957422" y="544404"/>
                    <a:pt x="951118" y="547014"/>
                    <a:pt x="944546" y="547014"/>
                  </a:cubicBezTo>
                  <a:lnTo>
                    <a:pt x="24781" y="547014"/>
                  </a:lnTo>
                  <a:cubicBezTo>
                    <a:pt x="18209" y="547014"/>
                    <a:pt x="11906" y="544404"/>
                    <a:pt x="7258" y="539756"/>
                  </a:cubicBezTo>
                  <a:cubicBezTo>
                    <a:pt x="2611" y="535109"/>
                    <a:pt x="0" y="528806"/>
                    <a:pt x="0" y="522233"/>
                  </a:cubicBezTo>
                  <a:lnTo>
                    <a:pt x="0" y="24781"/>
                  </a:lnTo>
                  <a:cubicBezTo>
                    <a:pt x="0" y="18209"/>
                    <a:pt x="2611" y="11906"/>
                    <a:pt x="7258" y="7258"/>
                  </a:cubicBezTo>
                  <a:cubicBezTo>
                    <a:pt x="11906" y="2611"/>
                    <a:pt x="18209" y="0"/>
                    <a:pt x="24781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26308" r="0" b="-26308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562548" y="3730140"/>
            <a:ext cx="16696752" cy="4056681"/>
          </a:xfrm>
          <a:custGeom>
            <a:avLst/>
            <a:gdLst/>
            <a:ahLst/>
            <a:cxnLst/>
            <a:rect r="r" b="b" t="t" l="l"/>
            <a:pathLst>
              <a:path h="4056681" w="16696752">
                <a:moveTo>
                  <a:pt x="0" y="0"/>
                </a:moveTo>
                <a:lnTo>
                  <a:pt x="16696752" y="0"/>
                </a:lnTo>
                <a:lnTo>
                  <a:pt x="16696752" y="4056681"/>
                </a:lnTo>
                <a:lnTo>
                  <a:pt x="0" y="405668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16176" r="0" b="-17532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039970" y="2087176"/>
            <a:ext cx="15693337" cy="1838960"/>
            <a:chOff x="0" y="0"/>
            <a:chExt cx="20924449" cy="2451947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-95250"/>
              <a:ext cx="8902214" cy="254719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7840"/>
                </a:lnSpc>
                <a:spcBef>
                  <a:spcPct val="0"/>
                </a:spcBef>
              </a:pPr>
              <a:r>
                <a:rPr lang="en-US" b="true" sz="5600">
                  <a:solidFill>
                    <a:srgbClr val="000000"/>
                  </a:solidFill>
                  <a:latin typeface="Red Hat Display Bold"/>
                  <a:ea typeface="Red Hat Display Bold"/>
                  <a:cs typeface="Red Hat Display Bold"/>
                  <a:sym typeface="Red Hat Display Bold"/>
                </a:rPr>
                <a:t>PROJECT MANAGEMENT 1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10451560" y="380153"/>
              <a:ext cx="10472890" cy="3962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028700" y="990600"/>
            <a:ext cx="3512536" cy="1099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ATU FINAL YEAR PROJECT</a:t>
            </a:r>
          </a:p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SEAN MALONEY</a:t>
            </a:r>
          </a:p>
          <a:p>
            <a:pPr algn="l">
              <a:lnSpc>
                <a:spcPts val="2940"/>
              </a:lnSpc>
              <a:spcBef>
                <a:spcPct val="0"/>
              </a:spcBef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15866051" y="990600"/>
            <a:ext cx="1393249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PAGE 07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085029" y="4917757"/>
            <a:ext cx="4671630" cy="5473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79"/>
              </a:lnSpc>
              <a:spcBef>
                <a:spcPct val="0"/>
              </a:spcBef>
            </a:pPr>
            <a:r>
              <a:rPr lang="en-US" b="true" sz="3199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SEMESTER 2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562548" y="7326127"/>
            <a:ext cx="16696752" cy="2960873"/>
            <a:chOff x="0" y="0"/>
            <a:chExt cx="1607755" cy="28510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607755" cy="285107"/>
            </a:xfrm>
            <a:custGeom>
              <a:avLst/>
              <a:gdLst/>
              <a:ahLst/>
              <a:cxnLst/>
              <a:rect r="r" b="b" t="t" l="l"/>
              <a:pathLst>
                <a:path h="285107" w="1607755">
                  <a:moveTo>
                    <a:pt x="0" y="0"/>
                  </a:moveTo>
                  <a:lnTo>
                    <a:pt x="1607755" y="0"/>
                  </a:lnTo>
                  <a:lnTo>
                    <a:pt x="1607755" y="285107"/>
                  </a:lnTo>
                  <a:lnTo>
                    <a:pt x="0" y="285107"/>
                  </a:lnTo>
                  <a:close/>
                </a:path>
              </a:pathLst>
            </a:custGeom>
            <a:blipFill>
              <a:blip r:embed="rId4"/>
              <a:stretch>
                <a:fillRect l="-1400" t="0" r="-1400" b="0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3085029" y="8259193"/>
            <a:ext cx="4671630" cy="5473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79"/>
              </a:lnSpc>
              <a:spcBef>
                <a:spcPct val="0"/>
              </a:spcBef>
            </a:pPr>
            <a:r>
              <a:rPr lang="en-US" b="true" sz="3199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SEMESTER 1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680826" y="6751133"/>
            <a:ext cx="4671630" cy="10356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539"/>
              </a:lnSpc>
              <a:spcBef>
                <a:spcPct val="0"/>
              </a:spcBef>
            </a:pPr>
            <a:r>
              <a:rPr lang="en-US" b="true" sz="6099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VS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6974216"/>
            <a:ext cx="16924129" cy="2962772"/>
            <a:chOff x="0" y="0"/>
            <a:chExt cx="2153679" cy="37702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53679" cy="377027"/>
            </a:xfrm>
            <a:custGeom>
              <a:avLst/>
              <a:gdLst/>
              <a:ahLst/>
              <a:cxnLst/>
              <a:rect r="r" b="b" t="t" l="l"/>
              <a:pathLst>
                <a:path h="377027" w="2153679">
                  <a:moveTo>
                    <a:pt x="0" y="0"/>
                  </a:moveTo>
                  <a:lnTo>
                    <a:pt x="2153679" y="0"/>
                  </a:lnTo>
                  <a:lnTo>
                    <a:pt x="2153679" y="377027"/>
                  </a:lnTo>
                  <a:lnTo>
                    <a:pt x="0" y="377027"/>
                  </a:lnTo>
                  <a:close/>
                </a:path>
              </a:pathLst>
            </a:custGeom>
            <a:blipFill>
              <a:blip r:embed="rId2"/>
              <a:stretch>
                <a:fillRect l="-3049" t="0" r="-3049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028700" y="4593098"/>
            <a:ext cx="9564851" cy="2381118"/>
          </a:xfrm>
          <a:custGeom>
            <a:avLst/>
            <a:gdLst/>
            <a:ahLst/>
            <a:cxnLst/>
            <a:rect r="r" b="b" t="t" l="l"/>
            <a:pathLst>
              <a:path h="2381118" w="9564851">
                <a:moveTo>
                  <a:pt x="0" y="0"/>
                </a:moveTo>
                <a:lnTo>
                  <a:pt x="9564851" y="0"/>
                </a:lnTo>
                <a:lnTo>
                  <a:pt x="9564851" y="2381118"/>
                </a:lnTo>
                <a:lnTo>
                  <a:pt x="0" y="238111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-3432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28700" y="4593098"/>
            <a:ext cx="9564851" cy="2381118"/>
          </a:xfrm>
          <a:custGeom>
            <a:avLst/>
            <a:gdLst/>
            <a:ahLst/>
            <a:cxnLst/>
            <a:rect r="r" b="b" t="t" l="l"/>
            <a:pathLst>
              <a:path h="2381118" w="9564851">
                <a:moveTo>
                  <a:pt x="0" y="0"/>
                </a:moveTo>
                <a:lnTo>
                  <a:pt x="9564851" y="0"/>
                </a:lnTo>
                <a:lnTo>
                  <a:pt x="9564851" y="2381118"/>
                </a:lnTo>
                <a:lnTo>
                  <a:pt x="0" y="238111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30368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039970" y="2087176"/>
            <a:ext cx="13629662" cy="1838960"/>
            <a:chOff x="0" y="0"/>
            <a:chExt cx="18172883" cy="2451947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-95250"/>
              <a:ext cx="7856643" cy="254719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7840"/>
                </a:lnSpc>
                <a:spcBef>
                  <a:spcPct val="0"/>
                </a:spcBef>
              </a:pPr>
              <a:r>
                <a:rPr lang="en-US" b="true" sz="5600">
                  <a:solidFill>
                    <a:srgbClr val="000000"/>
                  </a:solidFill>
                  <a:latin typeface="Red Hat Display Bold"/>
                  <a:ea typeface="Red Hat Display Bold"/>
                  <a:cs typeface="Red Hat Display Bold"/>
                  <a:sym typeface="Red Hat Display Bold"/>
                </a:rPr>
                <a:t>PROJECT MANAGEMENT 2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9077179" y="380153"/>
              <a:ext cx="9095704" cy="3962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028700" y="990600"/>
            <a:ext cx="3512536" cy="1099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ATU FINAL YEAR PROJECT</a:t>
            </a:r>
          </a:p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SEAN MALONEY</a:t>
            </a:r>
          </a:p>
          <a:p>
            <a:pPr algn="l">
              <a:lnSpc>
                <a:spcPts val="2940"/>
              </a:lnSpc>
              <a:spcBef>
                <a:spcPct val="0"/>
              </a:spcBef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15866051" y="990600"/>
            <a:ext cx="1393249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PAGE 08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593551" y="1521142"/>
            <a:ext cx="7558276" cy="5021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Sprint based development</a:t>
            </a:r>
          </a:p>
          <a:p>
            <a:pPr algn="just">
              <a:lnSpc>
                <a:spcPts val="2520"/>
              </a:lnSpc>
            </a:pPr>
          </a:p>
          <a:p>
            <a:pPr algn="just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Clear improvement from Semester 1→ Semester 2</a:t>
            </a:r>
          </a:p>
          <a:p>
            <a:pPr algn="just">
              <a:lnSpc>
                <a:spcPts val="2520"/>
              </a:lnSpc>
            </a:pPr>
          </a:p>
          <a:p>
            <a:pPr algn="just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Better task breakdown and estimation over time</a:t>
            </a:r>
          </a:p>
          <a:p>
            <a:pPr algn="just">
              <a:lnSpc>
                <a:spcPts val="2520"/>
              </a:lnSpc>
            </a:pPr>
          </a:p>
          <a:p>
            <a:pPr algn="just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M</a:t>
            </a:r>
            <a:r>
              <a:rPr lang="en-US" sz="18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oved to 2/1 week sprints for easier management</a:t>
            </a:r>
          </a:p>
          <a:p>
            <a:pPr algn="just">
              <a:lnSpc>
                <a:spcPts val="2520"/>
              </a:lnSpc>
            </a:pPr>
          </a:p>
          <a:p>
            <a:pPr algn="just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Gannt chart used for easier planning.</a:t>
            </a:r>
          </a:p>
          <a:p>
            <a:pPr algn="just">
              <a:lnSpc>
                <a:spcPts val="2520"/>
              </a:lnSpc>
            </a:pPr>
          </a:p>
          <a:p>
            <a:pPr algn="just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Jira used to track sprint progress and priorities</a:t>
            </a:r>
          </a:p>
          <a:p>
            <a:pPr algn="just">
              <a:lnSpc>
                <a:spcPts val="2520"/>
              </a:lnSpc>
            </a:pPr>
          </a:p>
          <a:p>
            <a:pPr algn="just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GitHub network reflects improving and structured workflow</a:t>
            </a:r>
          </a:p>
          <a:p>
            <a:pPr algn="just">
              <a:lnSpc>
                <a:spcPts val="2520"/>
              </a:lnSpc>
            </a:pPr>
          </a:p>
          <a:p>
            <a:pPr algn="just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OneNote used to document project progress </a:t>
            </a:r>
          </a:p>
          <a:p>
            <a:pPr algn="just">
              <a:lnSpc>
                <a:spcPts val="2520"/>
              </a:lnSpc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0" y="1397751"/>
            <a:ext cx="8895435" cy="4044654"/>
            <a:chOff x="0" y="0"/>
            <a:chExt cx="1073052" cy="48790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73052" cy="487905"/>
            </a:xfrm>
            <a:custGeom>
              <a:avLst/>
              <a:gdLst/>
              <a:ahLst/>
              <a:cxnLst/>
              <a:rect r="r" b="b" t="t" l="l"/>
              <a:pathLst>
                <a:path h="487905" w="1073052">
                  <a:moveTo>
                    <a:pt x="20017" y="0"/>
                  </a:moveTo>
                  <a:lnTo>
                    <a:pt x="1053035" y="0"/>
                  </a:lnTo>
                  <a:cubicBezTo>
                    <a:pt x="1064090" y="0"/>
                    <a:pt x="1073052" y="8962"/>
                    <a:pt x="1073052" y="20017"/>
                  </a:cubicBezTo>
                  <a:lnTo>
                    <a:pt x="1073052" y="467887"/>
                  </a:lnTo>
                  <a:cubicBezTo>
                    <a:pt x="1073052" y="478943"/>
                    <a:pt x="1064090" y="487905"/>
                    <a:pt x="1053035" y="487905"/>
                  </a:cubicBezTo>
                  <a:lnTo>
                    <a:pt x="20017" y="487905"/>
                  </a:lnTo>
                  <a:cubicBezTo>
                    <a:pt x="8962" y="487905"/>
                    <a:pt x="0" y="478943"/>
                    <a:pt x="0" y="467887"/>
                  </a:cubicBezTo>
                  <a:lnTo>
                    <a:pt x="0" y="20017"/>
                  </a:lnTo>
                  <a:cubicBezTo>
                    <a:pt x="0" y="8962"/>
                    <a:pt x="8962" y="0"/>
                    <a:pt x="20017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22308" r="0" b="-32689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0" y="5704974"/>
            <a:ext cx="4447718" cy="4356951"/>
            <a:chOff x="0" y="0"/>
            <a:chExt cx="536526" cy="52557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36526" cy="525577"/>
            </a:xfrm>
            <a:custGeom>
              <a:avLst/>
              <a:gdLst/>
              <a:ahLst/>
              <a:cxnLst/>
              <a:rect r="r" b="b" t="t" l="l"/>
              <a:pathLst>
                <a:path h="525577" w="536526">
                  <a:moveTo>
                    <a:pt x="40035" y="0"/>
                  </a:moveTo>
                  <a:lnTo>
                    <a:pt x="496491" y="0"/>
                  </a:lnTo>
                  <a:cubicBezTo>
                    <a:pt x="507109" y="0"/>
                    <a:pt x="517292" y="4218"/>
                    <a:pt x="524800" y="11726"/>
                  </a:cubicBezTo>
                  <a:cubicBezTo>
                    <a:pt x="532308" y="19234"/>
                    <a:pt x="536526" y="29417"/>
                    <a:pt x="536526" y="40035"/>
                  </a:cubicBezTo>
                  <a:lnTo>
                    <a:pt x="536526" y="485542"/>
                  </a:lnTo>
                  <a:cubicBezTo>
                    <a:pt x="536526" y="507653"/>
                    <a:pt x="518602" y="525577"/>
                    <a:pt x="496491" y="525577"/>
                  </a:cubicBezTo>
                  <a:lnTo>
                    <a:pt x="40035" y="525577"/>
                  </a:lnTo>
                  <a:cubicBezTo>
                    <a:pt x="29417" y="525577"/>
                    <a:pt x="19234" y="521359"/>
                    <a:pt x="11726" y="513851"/>
                  </a:cubicBezTo>
                  <a:cubicBezTo>
                    <a:pt x="4218" y="506343"/>
                    <a:pt x="0" y="496160"/>
                    <a:pt x="0" y="485542"/>
                  </a:cubicBezTo>
                  <a:lnTo>
                    <a:pt x="0" y="40035"/>
                  </a:lnTo>
                  <a:cubicBezTo>
                    <a:pt x="0" y="29417"/>
                    <a:pt x="4218" y="19234"/>
                    <a:pt x="11726" y="11726"/>
                  </a:cubicBezTo>
                  <a:cubicBezTo>
                    <a:pt x="19234" y="4218"/>
                    <a:pt x="29417" y="0"/>
                    <a:pt x="40035" y="0"/>
                  </a:cubicBezTo>
                  <a:close/>
                </a:path>
              </a:pathLst>
            </a:custGeom>
            <a:blipFill>
              <a:blip r:embed="rId3"/>
              <a:stretch>
                <a:fillRect l="-40398" t="0" r="-21517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325926" y="3771181"/>
            <a:ext cx="918210" cy="918210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325926" y="7162361"/>
            <a:ext cx="918210" cy="918210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3591718" y="5704974"/>
            <a:ext cx="4447718" cy="4356951"/>
            <a:chOff x="0" y="0"/>
            <a:chExt cx="536526" cy="525577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36526" cy="525577"/>
            </a:xfrm>
            <a:custGeom>
              <a:avLst/>
              <a:gdLst/>
              <a:ahLst/>
              <a:cxnLst/>
              <a:rect r="r" b="b" t="t" l="l"/>
              <a:pathLst>
                <a:path h="525577" w="536526">
                  <a:moveTo>
                    <a:pt x="40035" y="0"/>
                  </a:moveTo>
                  <a:lnTo>
                    <a:pt x="496491" y="0"/>
                  </a:lnTo>
                  <a:cubicBezTo>
                    <a:pt x="507109" y="0"/>
                    <a:pt x="517292" y="4218"/>
                    <a:pt x="524800" y="11726"/>
                  </a:cubicBezTo>
                  <a:cubicBezTo>
                    <a:pt x="532308" y="19234"/>
                    <a:pt x="536526" y="29417"/>
                    <a:pt x="536526" y="40035"/>
                  </a:cubicBezTo>
                  <a:lnTo>
                    <a:pt x="536526" y="485542"/>
                  </a:lnTo>
                  <a:cubicBezTo>
                    <a:pt x="536526" y="507653"/>
                    <a:pt x="518602" y="525577"/>
                    <a:pt x="496491" y="525577"/>
                  </a:cubicBezTo>
                  <a:lnTo>
                    <a:pt x="40035" y="525577"/>
                  </a:lnTo>
                  <a:cubicBezTo>
                    <a:pt x="29417" y="525577"/>
                    <a:pt x="19234" y="521359"/>
                    <a:pt x="11726" y="513851"/>
                  </a:cubicBezTo>
                  <a:cubicBezTo>
                    <a:pt x="4218" y="506343"/>
                    <a:pt x="0" y="496160"/>
                    <a:pt x="0" y="485542"/>
                  </a:cubicBezTo>
                  <a:lnTo>
                    <a:pt x="0" y="40035"/>
                  </a:lnTo>
                  <a:cubicBezTo>
                    <a:pt x="0" y="29417"/>
                    <a:pt x="4218" y="19234"/>
                    <a:pt x="11726" y="11726"/>
                  </a:cubicBezTo>
                  <a:cubicBezTo>
                    <a:pt x="19234" y="4218"/>
                    <a:pt x="29417" y="0"/>
                    <a:pt x="40035" y="0"/>
                  </a:cubicBezTo>
                  <a:close/>
                </a:path>
              </a:pathLst>
            </a:custGeom>
            <a:blipFill>
              <a:blip r:embed="rId4"/>
              <a:stretch>
                <a:fillRect l="0" t="-9682" r="0" b="-9682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028700" y="990600"/>
            <a:ext cx="3512536" cy="1099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ATU FINAL YEAR PROJECT</a:t>
            </a:r>
          </a:p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SEAN MALONEY</a:t>
            </a:r>
          </a:p>
          <a:p>
            <a:pPr algn="l">
              <a:lnSpc>
                <a:spcPts val="2940"/>
              </a:lnSpc>
              <a:spcBef>
                <a:spcPct val="0"/>
              </a:spcBef>
            </a:pPr>
          </a:p>
        </p:txBody>
      </p:sp>
      <p:sp>
        <p:nvSpPr>
          <p:cNvPr name="TextBox 15" id="15"/>
          <p:cNvSpPr txBox="true"/>
          <p:nvPr/>
        </p:nvSpPr>
        <p:spPr>
          <a:xfrm rot="0">
            <a:off x="15866051" y="990600"/>
            <a:ext cx="1393249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PAGE 09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28700" y="1855598"/>
            <a:ext cx="5771252" cy="943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40"/>
              </a:lnSpc>
              <a:spcBef>
                <a:spcPct val="0"/>
              </a:spcBef>
            </a:pPr>
            <a:r>
              <a:rPr lang="en-US" b="true" sz="5600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YOLO AND A*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741387" y="3125879"/>
            <a:ext cx="5050734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C++ A* Algorithm Pathfinder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741387" y="6483229"/>
            <a:ext cx="5050734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YOLOv8 Vehicle Detection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2741387" y="3564075"/>
            <a:ext cx="5245488" cy="1878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A* is a pathfinding algorithm used to find the shortest or most efficient path between two points.</a:t>
            </a:r>
          </a:p>
          <a:p>
            <a:pPr algn="just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It works by comparing the cost already travelled with an estimate of the cost remaining to the goal.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2741387" y="6820414"/>
            <a:ext cx="5245488" cy="1564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YOLOv8 is an object detection model used to identify and locate objects within an image.</a:t>
            </a:r>
          </a:p>
          <a:p>
            <a:pPr algn="just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It works by predicting bounding boxes and class labels in a single pass, making it fast and effective for real time detection.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405526" y="4033119"/>
            <a:ext cx="75901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01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405526" y="7424299"/>
            <a:ext cx="75901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02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7930" y="2986075"/>
            <a:ext cx="17072460" cy="6871079"/>
            <a:chOff x="0" y="0"/>
            <a:chExt cx="4496450" cy="180966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496450" cy="1809667"/>
            </a:xfrm>
            <a:custGeom>
              <a:avLst/>
              <a:gdLst/>
              <a:ahLst/>
              <a:cxnLst/>
              <a:rect r="r" b="b" t="t" l="l"/>
              <a:pathLst>
                <a:path h="1809667" w="4496450">
                  <a:moveTo>
                    <a:pt x="23127" y="0"/>
                  </a:moveTo>
                  <a:lnTo>
                    <a:pt x="4473323" y="0"/>
                  </a:lnTo>
                  <a:cubicBezTo>
                    <a:pt x="4479457" y="0"/>
                    <a:pt x="4485339" y="2437"/>
                    <a:pt x="4489677" y="6774"/>
                  </a:cubicBezTo>
                  <a:cubicBezTo>
                    <a:pt x="4494014" y="11111"/>
                    <a:pt x="4496450" y="16993"/>
                    <a:pt x="4496450" y="23127"/>
                  </a:cubicBezTo>
                  <a:lnTo>
                    <a:pt x="4496450" y="1786540"/>
                  </a:lnTo>
                  <a:cubicBezTo>
                    <a:pt x="4496450" y="1792674"/>
                    <a:pt x="4494014" y="1798556"/>
                    <a:pt x="4489677" y="1802893"/>
                  </a:cubicBezTo>
                  <a:cubicBezTo>
                    <a:pt x="4485339" y="1807230"/>
                    <a:pt x="4479457" y="1809667"/>
                    <a:pt x="4473323" y="1809667"/>
                  </a:cubicBezTo>
                  <a:lnTo>
                    <a:pt x="23127" y="1809667"/>
                  </a:lnTo>
                  <a:cubicBezTo>
                    <a:pt x="16993" y="1809667"/>
                    <a:pt x="11111" y="1807230"/>
                    <a:pt x="6774" y="1802893"/>
                  </a:cubicBezTo>
                  <a:cubicBezTo>
                    <a:pt x="2437" y="1798556"/>
                    <a:pt x="0" y="1792674"/>
                    <a:pt x="0" y="1786540"/>
                  </a:cubicBezTo>
                  <a:lnTo>
                    <a:pt x="0" y="23127"/>
                  </a:lnTo>
                  <a:cubicBezTo>
                    <a:pt x="0" y="16993"/>
                    <a:pt x="2437" y="11111"/>
                    <a:pt x="6774" y="6774"/>
                  </a:cubicBezTo>
                  <a:cubicBezTo>
                    <a:pt x="11111" y="2437"/>
                    <a:pt x="16993" y="0"/>
                    <a:pt x="23127" y="0"/>
                  </a:cubicBezTo>
                  <a:close/>
                </a:path>
              </a:pathLst>
            </a:custGeom>
            <a:solidFill>
              <a:srgbClr val="FF5757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496450" cy="18477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946232" y="4171174"/>
            <a:ext cx="16515855" cy="44437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19"/>
              </a:lnSpc>
            </a:pPr>
            <a:r>
              <a:rPr lang="en-US" sz="2799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·Generative AI tools were used as support tools during the preparation of this project.</a:t>
            </a:r>
          </a:p>
          <a:p>
            <a:pPr algn="just">
              <a:lnSpc>
                <a:spcPts val="3919"/>
              </a:lnSpc>
            </a:pPr>
            <a:r>
              <a:rPr lang="en-US" sz="2799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·AI assistance, where used, was used for tasks such as brainstorming, language refinement, formatting support, structure planning, debugging, generation of code, rewriting of code, and web scraping information not easily found.</a:t>
            </a:r>
          </a:p>
          <a:p>
            <a:pPr algn="just">
              <a:lnSpc>
                <a:spcPts val="3919"/>
              </a:lnSpc>
            </a:pPr>
            <a:r>
              <a:rPr lang="en-US" sz="2799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·All technical design, implementation, testing, evaluation, and final written content were reviewed, validated, and approved by the author.</a:t>
            </a:r>
          </a:p>
          <a:p>
            <a:pPr algn="just">
              <a:lnSpc>
                <a:spcPts val="3919"/>
              </a:lnSpc>
              <a:spcBef>
                <a:spcPct val="0"/>
              </a:spcBef>
            </a:pPr>
            <a:r>
              <a:rPr lang="en-US" b="true" sz="2799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·The author takes full responsibility for the accuracy, originality, and academic integrity of this submission.</a:t>
            </a:r>
          </a:p>
          <a:p>
            <a:pPr algn="just">
              <a:lnSpc>
                <a:spcPts val="3919"/>
              </a:lnSpc>
              <a:spcBef>
                <a:spcPct val="0"/>
              </a:spcBef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990600"/>
            <a:ext cx="3512536" cy="1099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ATU FINAL YEAR PROJECT</a:t>
            </a:r>
          </a:p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SEAN MALONEY</a:t>
            </a:r>
          </a:p>
          <a:p>
            <a:pPr algn="l">
              <a:lnSpc>
                <a:spcPts val="2940"/>
              </a:lnSpc>
              <a:spcBef>
                <a:spcPct val="0"/>
              </a:spcBef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15866051" y="990600"/>
            <a:ext cx="1393249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PAGE 10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922518" y="1991926"/>
            <a:ext cx="10442965" cy="943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40"/>
              </a:lnSpc>
              <a:spcBef>
                <a:spcPct val="0"/>
              </a:spcBef>
            </a:pPr>
            <a:r>
              <a:rPr lang="en-US" b="true" sz="5600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AI DECLERATION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>
            <a:hlinkClick action="ppaction://media"/>
          </p:cNvPr>
          <p:cNvPicPr>
            <a:picLocks noChangeAspect="true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3162128" y="3063953"/>
            <a:ext cx="11963743" cy="6729605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1028700" y="990600"/>
            <a:ext cx="3512536" cy="1099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ATU FINAL YEAR PROJECT</a:t>
            </a:r>
          </a:p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SEAN MALONEY</a:t>
            </a:r>
          </a:p>
          <a:p>
            <a:pPr algn="l">
              <a:lnSpc>
                <a:spcPts val="2940"/>
              </a:lnSpc>
              <a:spcBef>
                <a:spcPct val="0"/>
              </a:spcBef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15866051" y="990600"/>
            <a:ext cx="1393249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PAGE 11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922518" y="1991926"/>
            <a:ext cx="10442965" cy="943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40"/>
              </a:lnSpc>
              <a:spcBef>
                <a:spcPct val="0"/>
              </a:spcBef>
            </a:pPr>
            <a:r>
              <a:rPr lang="en-US" b="true" sz="5600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DEMO VIDEO</a:t>
            </a:r>
          </a:p>
        </p:txBody>
      </p:sp>
    </p:spTree>
  </p:cSld>
  <p:clrMapOvr>
    <a:masterClrMapping/>
  </p:clrMapOvr>
  <p:timing>
    <p:tnLst>
      <p:par>
        <p:cTn dur="indefinite" restart="never" nodeType="tmRoot">
          <p:childTnLst>
            <p:video>
              <p:cMediaNode vol="100000">
                <p:cTn fill="hold" display="false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DAHHtq_B1As</dc:identifier>
  <dcterms:modified xsi:type="dcterms:W3CDTF">2011-08-01T06:04:30Z</dcterms:modified>
  <cp:revision>1</cp:revision>
  <dc:title>Summer Demo</dc:title>
</cp:coreProperties>
</file>